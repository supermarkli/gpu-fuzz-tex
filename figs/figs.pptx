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1" userDrawn="1">
          <p15:clr>
            <a:srgbClr val="A4A3A4"/>
          </p15:clr>
        </p15:guide>
        <p15:guide id="2" pos="36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2D1"/>
    <a:srgbClr val="B2B2B2"/>
    <a:srgbClr val="39FF19"/>
    <a:srgbClr val="76B900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81"/>
        <p:guide pos="369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s 2"/>
          <p:cNvSpPr/>
          <p:nvPr/>
        </p:nvSpPr>
        <p:spPr>
          <a:xfrm>
            <a:off x="3630295" y="1497965"/>
            <a:ext cx="1174750" cy="1245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11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SMs</a:t>
            </a:r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227195" y="2333625"/>
            <a:ext cx="522605" cy="3149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Shared mem.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3704590" y="2333625"/>
            <a:ext cx="522605" cy="314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L1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cache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704590" y="1695450"/>
            <a:ext cx="1045210" cy="593090"/>
            <a:chOff x="5834" y="2670"/>
            <a:chExt cx="1646" cy="934"/>
          </a:xfrm>
        </p:grpSpPr>
        <p:sp>
          <p:nvSpPr>
            <p:cNvPr id="10" name="Rectangles 9"/>
            <p:cNvSpPr/>
            <p:nvPr/>
          </p:nvSpPr>
          <p:spPr>
            <a:xfrm>
              <a:off x="5834" y="2670"/>
              <a:ext cx="1647" cy="9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r>
                <a:rPr lang="en-US" sz="11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Compute units</a:t>
              </a:r>
              <a:endParaRPr lang="en-US" sz="11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endParaRPr lang="en-US" sz="11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endParaRPr lang="en-US" sz="11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endParaRPr lang="en-US" sz="11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Rectangles 11"/>
            <p:cNvSpPr/>
            <p:nvPr/>
          </p:nvSpPr>
          <p:spPr>
            <a:xfrm>
              <a:off x="5917" y="2999"/>
              <a:ext cx="658" cy="2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Reg.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Rectangles 13"/>
            <p:cNvSpPr/>
            <p:nvPr/>
          </p:nvSpPr>
          <p:spPr>
            <a:xfrm>
              <a:off x="6740" y="2999"/>
              <a:ext cx="658" cy="2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Core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5917" y="3322"/>
              <a:ext cx="1481" cy="2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L1/L2 TLB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7" name="Rectangles 16"/>
          <p:cNvSpPr/>
          <p:nvPr/>
        </p:nvSpPr>
        <p:spPr>
          <a:xfrm>
            <a:off x="5736590" y="1497965"/>
            <a:ext cx="785495" cy="156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L3 TLB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4855210" y="1497965"/>
            <a:ext cx="831850" cy="156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L2 cache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855210" y="1695450"/>
            <a:ext cx="1670685" cy="1047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11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Off-chip dev. mem.</a:t>
            </a:r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5351145" y="1904365"/>
            <a:ext cx="581025" cy="581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Pagetable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394960" y="2078990"/>
            <a:ext cx="182880" cy="309880"/>
            <a:chOff x="7899" y="4676"/>
            <a:chExt cx="342" cy="488"/>
          </a:xfrm>
        </p:grpSpPr>
        <p:sp>
          <p:nvSpPr>
            <p:cNvPr id="23" name="Rectangles 22"/>
            <p:cNvSpPr/>
            <p:nvPr/>
          </p:nvSpPr>
          <p:spPr>
            <a:xfrm>
              <a:off x="7899" y="4920"/>
              <a:ext cx="343" cy="1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7899" y="4676"/>
              <a:ext cx="342" cy="488"/>
              <a:chOff x="7792" y="3597"/>
              <a:chExt cx="342" cy="488"/>
            </a:xfrm>
          </p:grpSpPr>
          <p:sp>
            <p:nvSpPr>
              <p:cNvPr id="21" name="Rectangles 20"/>
              <p:cNvSpPr/>
              <p:nvPr/>
            </p:nvSpPr>
            <p:spPr>
              <a:xfrm>
                <a:off x="7792" y="3597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2" name="Rectangles 21"/>
              <p:cNvSpPr/>
              <p:nvPr/>
            </p:nvSpPr>
            <p:spPr>
              <a:xfrm>
                <a:off x="7792" y="3719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4" name="Rectangles 23"/>
              <p:cNvSpPr/>
              <p:nvPr/>
            </p:nvSpPr>
            <p:spPr>
              <a:xfrm>
                <a:off x="7792" y="3963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5686425" y="2078990"/>
            <a:ext cx="179070" cy="309880"/>
            <a:chOff x="7899" y="4676"/>
            <a:chExt cx="342" cy="488"/>
          </a:xfrm>
        </p:grpSpPr>
        <p:sp>
          <p:nvSpPr>
            <p:cNvPr id="28" name="Rectangles 27"/>
            <p:cNvSpPr/>
            <p:nvPr/>
          </p:nvSpPr>
          <p:spPr>
            <a:xfrm>
              <a:off x="7899" y="4920"/>
              <a:ext cx="343" cy="1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7899" y="4676"/>
              <a:ext cx="342" cy="488"/>
              <a:chOff x="7792" y="3597"/>
              <a:chExt cx="342" cy="488"/>
            </a:xfrm>
          </p:grpSpPr>
          <p:sp>
            <p:nvSpPr>
              <p:cNvPr id="30" name="Rectangles 29"/>
              <p:cNvSpPr/>
              <p:nvPr/>
            </p:nvSpPr>
            <p:spPr>
              <a:xfrm>
                <a:off x="7792" y="3597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1" name="Rectangles 30"/>
              <p:cNvSpPr/>
              <p:nvPr/>
            </p:nvSpPr>
            <p:spPr>
              <a:xfrm>
                <a:off x="7792" y="3719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2" name="Rectangles 31"/>
              <p:cNvSpPr/>
              <p:nvPr/>
            </p:nvSpPr>
            <p:spPr>
              <a:xfrm>
                <a:off x="7792" y="3963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cxnSp>
        <p:nvCxnSpPr>
          <p:cNvPr id="34" name="Elbow Connector 33"/>
          <p:cNvCxnSpPr/>
          <p:nvPr/>
        </p:nvCxnSpPr>
        <p:spPr>
          <a:xfrm>
            <a:off x="5578475" y="2195195"/>
            <a:ext cx="107950" cy="1549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Rectangles 34"/>
          <p:cNvSpPr/>
          <p:nvPr/>
        </p:nvSpPr>
        <p:spPr>
          <a:xfrm>
            <a:off x="4899660" y="1906270"/>
            <a:ext cx="374650" cy="144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Page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4900295" y="2120900"/>
            <a:ext cx="374650" cy="144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Page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900295" y="2334895"/>
            <a:ext cx="374650" cy="144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Page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6026150" y="1904365"/>
            <a:ext cx="436245" cy="2559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Local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mem.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6026785" y="2229485"/>
            <a:ext cx="435610" cy="2559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Global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mem.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4852035" y="2498090"/>
            <a:ext cx="4692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Phys</a:t>
            </a:r>
            <a:r>
              <a:rPr lang="en-US" sz="1000"/>
              <a:t>.</a:t>
            </a:r>
            <a:endParaRPr lang="en-US" sz="1000"/>
          </a:p>
        </p:txBody>
      </p:sp>
      <p:sp>
        <p:nvSpPr>
          <p:cNvPr id="42" name="Text Box 41"/>
          <p:cNvSpPr txBox="1"/>
          <p:nvPr/>
        </p:nvSpPr>
        <p:spPr>
          <a:xfrm>
            <a:off x="5946140" y="2498090"/>
            <a:ext cx="4692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Virt</a:t>
            </a:r>
            <a:r>
              <a:rPr lang="en-US" sz="1000"/>
              <a:t>.</a:t>
            </a:r>
            <a:endParaRPr lang="en-US" sz="1000"/>
          </a:p>
        </p:txBody>
      </p:sp>
      <p:sp>
        <p:nvSpPr>
          <p:cNvPr id="43" name="Right Arrow 42"/>
          <p:cNvSpPr/>
          <p:nvPr/>
        </p:nvSpPr>
        <p:spPr>
          <a:xfrm>
            <a:off x="5381625" y="2581275"/>
            <a:ext cx="504825" cy="9525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-1052830" y="671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-1648460" y="6216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3985895" y="3270250"/>
            <a:ext cx="532130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[28:21]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2731135" y="3517900"/>
            <a:ext cx="374650" cy="361950"/>
          </a:xfrm>
          <a:prstGeom prst="rect">
            <a:avLst/>
          </a:prstGeom>
          <a:pattFill prst="pct20">
            <a:fgClr>
              <a:schemeClr val="bg1"/>
            </a:fgClr>
            <a:bgClr>
              <a:schemeClr val="bg1">
                <a:lumMod val="5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731135" y="3270250"/>
            <a:ext cx="257175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[56]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988310" y="3270250"/>
            <a:ext cx="548640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[55:47]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3536950" y="3270250"/>
            <a:ext cx="448945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2731135" y="3517900"/>
            <a:ext cx="37465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2731135" y="3611880"/>
            <a:ext cx="37465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8B entry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Elbow Connector 13"/>
          <p:cNvCxnSpPr>
            <a:stCxn id="11" idx="3"/>
          </p:cNvCxnSpPr>
          <p:nvPr/>
        </p:nvCxnSpPr>
        <p:spPr>
          <a:xfrm flipV="1">
            <a:off x="3105785" y="3517900"/>
            <a:ext cx="226695" cy="140970"/>
          </a:xfrm>
          <a:prstGeom prst="bentConnector3">
            <a:avLst>
              <a:gd name="adj1" fmla="val 27170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3324225" y="3522345"/>
            <a:ext cx="374650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3324225" y="3673475"/>
            <a:ext cx="37465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 entry  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227070" y="3834130"/>
            <a:ext cx="572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PD4[512]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6" name="Elbow Connector 25"/>
          <p:cNvCxnSpPr>
            <a:stCxn id="18" idx="1"/>
            <a:endCxn id="11" idx="1"/>
          </p:cNvCxnSpPr>
          <p:nvPr/>
        </p:nvCxnSpPr>
        <p:spPr>
          <a:xfrm rot="10800000" flipH="1" flipV="1">
            <a:off x="2731135" y="3329940"/>
            <a:ext cx="3175" cy="328930"/>
          </a:xfrm>
          <a:prstGeom prst="bentConnector3">
            <a:avLst>
              <a:gd name="adj1" fmla="val -144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4" idx="2"/>
            <a:endCxn id="19" idx="1"/>
          </p:cNvCxnSpPr>
          <p:nvPr/>
        </p:nvCxnSpPr>
        <p:spPr>
          <a:xfrm rot="5400000" flipV="1">
            <a:off x="3127693" y="3523933"/>
            <a:ext cx="331470" cy="6159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Text Box 46"/>
          <p:cNvSpPr txBox="1"/>
          <p:nvPr/>
        </p:nvSpPr>
        <p:spPr>
          <a:xfrm>
            <a:off x="3638550" y="3428365"/>
            <a:ext cx="311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4143375" y="3522345"/>
            <a:ext cx="374650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4143375" y="3740150"/>
            <a:ext cx="18288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9" name="Elbow Connector 68"/>
          <p:cNvCxnSpPr/>
          <p:nvPr/>
        </p:nvCxnSpPr>
        <p:spPr>
          <a:xfrm flipV="1">
            <a:off x="3917315" y="3532505"/>
            <a:ext cx="226695" cy="140970"/>
          </a:xfrm>
          <a:prstGeom prst="bentConnector3">
            <a:avLst>
              <a:gd name="adj1" fmla="val 27170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4048125" y="3828415"/>
            <a:ext cx="10699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PD0[256]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Text Box 72"/>
          <p:cNvSpPr txBox="1"/>
          <p:nvPr/>
        </p:nvSpPr>
        <p:spPr>
          <a:xfrm>
            <a:off x="2667635" y="3054985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b="1">
                <a:latin typeface="Times New Roman" panose="02020603050405020304" charset="0"/>
                <a:cs typeface="Times New Roman" panose="02020603050405020304" charset="0"/>
              </a:rPr>
              <a:t>Page Directory Translation</a:t>
            </a:r>
            <a:endParaRPr lang="en-US" sz="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4326255" y="3740150"/>
            <a:ext cx="19177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143375" y="3599815"/>
            <a:ext cx="374015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16B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0" name="Elbow Connector 29"/>
          <p:cNvCxnSpPr/>
          <p:nvPr/>
        </p:nvCxnSpPr>
        <p:spPr>
          <a:xfrm rot="5400000">
            <a:off x="4088765" y="3483610"/>
            <a:ext cx="217805" cy="108585"/>
          </a:xfrm>
          <a:prstGeom prst="bentConnector4">
            <a:avLst>
              <a:gd name="adj1" fmla="val 23906"/>
              <a:gd name="adj2" fmla="val 216374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Rectangles 38"/>
          <p:cNvSpPr/>
          <p:nvPr/>
        </p:nvSpPr>
        <p:spPr>
          <a:xfrm>
            <a:off x="5255895" y="3517900"/>
            <a:ext cx="18097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5160010" y="3816985"/>
            <a:ext cx="5492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2MB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5259070" y="3716020"/>
            <a:ext cx="177165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655820" y="3269615"/>
            <a:ext cx="805815" cy="1187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[20:0]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2632075" y="3832860"/>
            <a:ext cx="572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PD5[2]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9" name="Elbow Connector 58"/>
          <p:cNvCxnSpPr>
            <a:stCxn id="3" idx="1"/>
            <a:endCxn id="41" idx="1"/>
          </p:cNvCxnSpPr>
          <p:nvPr/>
        </p:nvCxnSpPr>
        <p:spPr>
          <a:xfrm rot="10800000" flipH="1" flipV="1">
            <a:off x="4655820" y="3329305"/>
            <a:ext cx="603250" cy="433705"/>
          </a:xfrm>
          <a:prstGeom prst="bentConnector3">
            <a:avLst>
              <a:gd name="adj1" fmla="val -11894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Elbow Connector 76"/>
          <p:cNvCxnSpPr/>
          <p:nvPr/>
        </p:nvCxnSpPr>
        <p:spPr>
          <a:xfrm flipV="1">
            <a:off x="4517390" y="3520440"/>
            <a:ext cx="738505" cy="125730"/>
          </a:xfrm>
          <a:prstGeom prst="bentConnector3">
            <a:avLst>
              <a:gd name="adj1" fmla="val 50043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Rectangles 77"/>
          <p:cNvSpPr/>
          <p:nvPr/>
        </p:nvSpPr>
        <p:spPr>
          <a:xfrm>
            <a:off x="2718435" y="4462780"/>
            <a:ext cx="38163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2718435" y="4559300"/>
            <a:ext cx="18288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2623185" y="4768850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PD0[256]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2902585" y="4559300"/>
            <a:ext cx="19431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2718435" y="4254500"/>
            <a:ext cx="439420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[20:16]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0" name="Rectangles 89"/>
          <p:cNvSpPr/>
          <p:nvPr/>
        </p:nvSpPr>
        <p:spPr>
          <a:xfrm>
            <a:off x="3311525" y="4462780"/>
            <a:ext cx="38163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1" name="Rectangles 90"/>
          <p:cNvSpPr/>
          <p:nvPr/>
        </p:nvSpPr>
        <p:spPr>
          <a:xfrm>
            <a:off x="3311525" y="4559300"/>
            <a:ext cx="38227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 entry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3221355" y="4768850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PT[64]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256B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4" name="Elbow Connector 93"/>
          <p:cNvCxnSpPr>
            <a:stCxn id="81" idx="2"/>
          </p:cNvCxnSpPr>
          <p:nvPr/>
        </p:nvCxnSpPr>
        <p:spPr>
          <a:xfrm rot="5400000" flipH="1" flipV="1">
            <a:off x="3060700" y="4401820"/>
            <a:ext cx="190500" cy="312420"/>
          </a:xfrm>
          <a:prstGeom prst="bentConnector4">
            <a:avLst>
              <a:gd name="adj1" fmla="val -39999"/>
              <a:gd name="adj2" fmla="val 65650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Elbow Connector 94"/>
          <p:cNvCxnSpPr>
            <a:stCxn id="83" idx="3"/>
            <a:endCxn id="91" idx="1"/>
          </p:cNvCxnSpPr>
          <p:nvPr/>
        </p:nvCxnSpPr>
        <p:spPr>
          <a:xfrm>
            <a:off x="3157855" y="4314190"/>
            <a:ext cx="153670" cy="2921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Text Box 96"/>
          <p:cNvSpPr txBox="1"/>
          <p:nvPr/>
        </p:nvSpPr>
        <p:spPr>
          <a:xfrm>
            <a:off x="4582160" y="3065780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b="1">
                <a:latin typeface="Times New Roman" panose="02020603050405020304" charset="0"/>
                <a:cs typeface="Times New Roman" panose="02020603050405020304" charset="0"/>
              </a:rPr>
              <a:t>2MB PF</a:t>
            </a:r>
            <a:endParaRPr lang="en-US" sz="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8" name="Text Box 97"/>
          <p:cNvSpPr txBox="1"/>
          <p:nvPr/>
        </p:nvSpPr>
        <p:spPr>
          <a:xfrm>
            <a:off x="2661920" y="4048125"/>
            <a:ext cx="64960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b="1">
                <a:latin typeface="Times New Roman" panose="02020603050405020304" charset="0"/>
                <a:cs typeface="Times New Roman" panose="02020603050405020304" charset="0"/>
              </a:rPr>
              <a:t>64KB PF</a:t>
            </a:r>
            <a:endParaRPr lang="en-US" sz="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9" name="Rectangles 98"/>
          <p:cNvSpPr/>
          <p:nvPr/>
        </p:nvSpPr>
        <p:spPr>
          <a:xfrm>
            <a:off x="3311525" y="4254500"/>
            <a:ext cx="439420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[15:0]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3" name="Rectangles 102"/>
          <p:cNvSpPr/>
          <p:nvPr/>
        </p:nvSpPr>
        <p:spPr>
          <a:xfrm>
            <a:off x="3840480" y="4473575"/>
            <a:ext cx="18097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" name="Text Box 103"/>
          <p:cNvSpPr txBox="1"/>
          <p:nvPr/>
        </p:nvSpPr>
        <p:spPr>
          <a:xfrm>
            <a:off x="3750945" y="4776470"/>
            <a:ext cx="5492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64KB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Rectangles 104"/>
          <p:cNvSpPr/>
          <p:nvPr/>
        </p:nvSpPr>
        <p:spPr>
          <a:xfrm>
            <a:off x="3839845" y="4624070"/>
            <a:ext cx="18161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6" name="Elbow Connector 105"/>
          <p:cNvCxnSpPr>
            <a:stCxn id="91" idx="3"/>
          </p:cNvCxnSpPr>
          <p:nvPr/>
        </p:nvCxnSpPr>
        <p:spPr>
          <a:xfrm flipV="1">
            <a:off x="3693795" y="4473575"/>
            <a:ext cx="146685" cy="132715"/>
          </a:xfrm>
          <a:prstGeom prst="bentConnector3">
            <a:avLst>
              <a:gd name="adj1" fmla="val 50216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Elbow Connector 106"/>
          <p:cNvCxnSpPr>
            <a:stCxn id="99" idx="3"/>
            <a:endCxn id="105" idx="1"/>
          </p:cNvCxnSpPr>
          <p:nvPr/>
        </p:nvCxnSpPr>
        <p:spPr>
          <a:xfrm>
            <a:off x="3750945" y="4314190"/>
            <a:ext cx="88900" cy="356870"/>
          </a:xfrm>
          <a:prstGeom prst="bentConnector3">
            <a:avLst>
              <a:gd name="adj1" fmla="val 45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Rectangles 107"/>
          <p:cNvSpPr/>
          <p:nvPr/>
        </p:nvSpPr>
        <p:spPr>
          <a:xfrm>
            <a:off x="4152900" y="4462780"/>
            <a:ext cx="38163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9" name="Rectangles 108"/>
          <p:cNvSpPr/>
          <p:nvPr/>
        </p:nvSpPr>
        <p:spPr>
          <a:xfrm>
            <a:off x="4152900" y="4559300"/>
            <a:ext cx="18288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1" name="Rectangles 110"/>
          <p:cNvSpPr/>
          <p:nvPr/>
        </p:nvSpPr>
        <p:spPr>
          <a:xfrm>
            <a:off x="4337050" y="4559300"/>
            <a:ext cx="19431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Rectangles 111"/>
          <p:cNvSpPr/>
          <p:nvPr/>
        </p:nvSpPr>
        <p:spPr>
          <a:xfrm>
            <a:off x="4152900" y="4254500"/>
            <a:ext cx="439420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[20:12]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3" name="Rectangles 112"/>
          <p:cNvSpPr/>
          <p:nvPr/>
        </p:nvSpPr>
        <p:spPr>
          <a:xfrm>
            <a:off x="4745990" y="4462780"/>
            <a:ext cx="38163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Rectangles 113"/>
          <p:cNvSpPr/>
          <p:nvPr/>
        </p:nvSpPr>
        <p:spPr>
          <a:xfrm>
            <a:off x="4745990" y="4559300"/>
            <a:ext cx="38227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8B entry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Text Box 114"/>
          <p:cNvSpPr txBox="1"/>
          <p:nvPr/>
        </p:nvSpPr>
        <p:spPr>
          <a:xfrm>
            <a:off x="4655820" y="4768850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PT[512]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16" name="Elbow Connector 115"/>
          <p:cNvCxnSpPr>
            <a:stCxn id="109" idx="2"/>
          </p:cNvCxnSpPr>
          <p:nvPr/>
        </p:nvCxnSpPr>
        <p:spPr>
          <a:xfrm rot="5400000" flipH="1" flipV="1">
            <a:off x="4399915" y="4306570"/>
            <a:ext cx="190500" cy="502285"/>
          </a:xfrm>
          <a:prstGeom prst="bentConnector4">
            <a:avLst>
              <a:gd name="adj1" fmla="val -48833"/>
              <a:gd name="adj2" fmla="val 72882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2" idx="3"/>
            <a:endCxn id="114" idx="1"/>
          </p:cNvCxnSpPr>
          <p:nvPr/>
        </p:nvCxnSpPr>
        <p:spPr>
          <a:xfrm>
            <a:off x="4592320" y="4314190"/>
            <a:ext cx="153670" cy="2921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Text Box 117"/>
          <p:cNvSpPr txBox="1"/>
          <p:nvPr/>
        </p:nvSpPr>
        <p:spPr>
          <a:xfrm>
            <a:off x="4096385" y="4048125"/>
            <a:ext cx="64960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b="1">
                <a:latin typeface="Times New Roman" panose="02020603050405020304" charset="0"/>
                <a:cs typeface="Times New Roman" panose="02020603050405020304" charset="0"/>
              </a:rPr>
              <a:t>4KB PF</a:t>
            </a:r>
            <a:endParaRPr lang="en-US" sz="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9" name="Rectangles 118"/>
          <p:cNvSpPr/>
          <p:nvPr/>
        </p:nvSpPr>
        <p:spPr>
          <a:xfrm>
            <a:off x="4745990" y="4254500"/>
            <a:ext cx="439420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[11:0]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0" name="Rectangles 119"/>
          <p:cNvSpPr/>
          <p:nvPr/>
        </p:nvSpPr>
        <p:spPr>
          <a:xfrm>
            <a:off x="5274945" y="4473575"/>
            <a:ext cx="180975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t" anchorCtr="0"/>
          <a:p>
            <a:pPr algn="l"/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en-US" sz="9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1" name="Text Box 120"/>
          <p:cNvSpPr txBox="1"/>
          <p:nvPr/>
        </p:nvSpPr>
        <p:spPr>
          <a:xfrm>
            <a:off x="5185410" y="4776470"/>
            <a:ext cx="5492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2" name="Rectangles 121"/>
          <p:cNvSpPr/>
          <p:nvPr/>
        </p:nvSpPr>
        <p:spPr>
          <a:xfrm>
            <a:off x="5274310" y="4624070"/>
            <a:ext cx="181610" cy="9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3" name="Elbow Connector 122"/>
          <p:cNvCxnSpPr>
            <a:stCxn id="114" idx="3"/>
          </p:cNvCxnSpPr>
          <p:nvPr/>
        </p:nvCxnSpPr>
        <p:spPr>
          <a:xfrm flipV="1">
            <a:off x="5128260" y="4473575"/>
            <a:ext cx="146685" cy="132715"/>
          </a:xfrm>
          <a:prstGeom prst="bentConnector3">
            <a:avLst>
              <a:gd name="adj1" fmla="val 50216"/>
            </a:avLst>
          </a:prstGeom>
          <a:ln>
            <a:solidFill>
              <a:srgbClr val="202020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Elbow Connector 123"/>
          <p:cNvCxnSpPr>
            <a:stCxn id="119" idx="3"/>
            <a:endCxn id="122" idx="1"/>
          </p:cNvCxnSpPr>
          <p:nvPr/>
        </p:nvCxnSpPr>
        <p:spPr>
          <a:xfrm>
            <a:off x="5185410" y="4314190"/>
            <a:ext cx="88900" cy="35687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4620260" y="3584575"/>
            <a:ext cx="109220" cy="109220"/>
          </a:xfrm>
          <a:prstGeom prst="ellipse">
            <a:avLst/>
          </a:prstGeom>
          <a:solidFill>
            <a:schemeClr val="bg1"/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2945130" y="4671060"/>
            <a:ext cx="109220" cy="109220"/>
          </a:xfrm>
          <a:prstGeom prst="ellipse">
            <a:avLst/>
          </a:prstGeom>
          <a:solidFill>
            <a:schemeClr val="bg1"/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4191000" y="4671060"/>
            <a:ext cx="109220" cy="109220"/>
          </a:xfrm>
          <a:prstGeom prst="ellipse">
            <a:avLst/>
          </a:prstGeom>
          <a:solidFill>
            <a:schemeClr val="bg1"/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8" name="Text Box 127"/>
          <p:cNvSpPr txBox="1"/>
          <p:nvPr/>
        </p:nvSpPr>
        <p:spPr>
          <a:xfrm>
            <a:off x="4057015" y="4776470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PD0[256]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700">
                <a:latin typeface="Times New Roman" panose="02020603050405020304" charset="0"/>
                <a:cs typeface="Times New Roman" panose="02020603050405020304" charset="0"/>
              </a:rPr>
              <a:t>4KB</a:t>
            </a:r>
            <a:endParaRPr lang="en-US" sz="7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ext Box 33"/>
          <p:cNvSpPr txBox="1"/>
          <p:nvPr/>
        </p:nvSpPr>
        <p:spPr>
          <a:xfrm>
            <a:off x="2485390" y="3152775"/>
            <a:ext cx="21145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ptr = malloc(40);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ptr += 0xffffffff;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ret = *ptr;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336290" y="2653030"/>
            <a:ext cx="741045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ptr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5206365" y="2656205"/>
            <a:ext cx="884555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buf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Straight Arrow Connector 4"/>
          <p:cNvCxnSpPr>
            <a:stCxn id="2" idx="3"/>
            <a:endCxn id="8" idx="1"/>
          </p:cNvCxnSpPr>
          <p:nvPr/>
        </p:nvCxnSpPr>
        <p:spPr>
          <a:xfrm>
            <a:off x="4077335" y="2767330"/>
            <a:ext cx="358775" cy="3175"/>
          </a:xfrm>
          <a:prstGeom prst="straightConnector1">
            <a:avLst/>
          </a:prstGeom>
          <a:ln w="19050">
            <a:solidFill>
              <a:srgbClr val="323232"/>
            </a:solidFill>
            <a:tailEnd type="stealth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2590165" y="2653030"/>
            <a:ext cx="746125" cy="2286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tag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36110" y="2656205"/>
            <a:ext cx="770255" cy="2286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Elbow Connector 15"/>
          <p:cNvCxnSpPr>
            <a:stCxn id="8" idx="2"/>
            <a:endCxn id="18" idx="1"/>
          </p:cNvCxnSpPr>
          <p:nvPr/>
        </p:nvCxnSpPr>
        <p:spPr>
          <a:xfrm rot="5400000" flipV="1">
            <a:off x="5198428" y="2507933"/>
            <a:ext cx="73660" cy="827405"/>
          </a:xfrm>
          <a:prstGeom prst="bentConnector3">
            <a:avLst>
              <a:gd name="adj1" fmla="val 422845"/>
            </a:avLst>
          </a:prstGeom>
          <a:ln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Left Bracket 17"/>
          <p:cNvSpPr/>
          <p:nvPr/>
        </p:nvSpPr>
        <p:spPr>
          <a:xfrm rot="16200000">
            <a:off x="5610225" y="2477770"/>
            <a:ext cx="76835" cy="88455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ight Bracket 19"/>
          <p:cNvSpPr/>
          <p:nvPr/>
        </p:nvSpPr>
        <p:spPr>
          <a:xfrm rot="16200000">
            <a:off x="5225415" y="1802130"/>
            <a:ext cx="76200" cy="1654810"/>
          </a:xfrm>
          <a:prstGeom prst="rightBracket">
            <a:avLst/>
          </a:prstGeom>
          <a:ln w="190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1" name="Elbow Connector 20"/>
          <p:cNvCxnSpPr>
            <a:stCxn id="7" idx="0"/>
            <a:endCxn id="20" idx="2"/>
          </p:cNvCxnSpPr>
          <p:nvPr/>
        </p:nvCxnSpPr>
        <p:spPr>
          <a:xfrm rot="16200000">
            <a:off x="4082733" y="1472248"/>
            <a:ext cx="61595" cy="2299970"/>
          </a:xfrm>
          <a:prstGeom prst="bentConnector5">
            <a:avLst>
              <a:gd name="adj1" fmla="val 387113"/>
              <a:gd name="adj2" fmla="val 40102"/>
              <a:gd name="adj3" fmla="val 389690"/>
            </a:avLst>
          </a:prstGeom>
          <a:ln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/>
        </p:nvSpPr>
        <p:spPr>
          <a:xfrm>
            <a:off x="3460750" y="2315845"/>
            <a:ext cx="1373505" cy="2152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sz="1400" baseline="30000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 aligned size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4848225" y="3033395"/>
            <a:ext cx="765175" cy="2152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exact size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4703445" y="3255645"/>
            <a:ext cx="1280160" cy="49403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Spatial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Metadata </a:t>
            </a:r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§X.X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2513965" y="3935095"/>
            <a:ext cx="1965325" cy="49403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Corruption Detection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§X.X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2517140" y="2830830"/>
            <a:ext cx="17970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Pointer Layout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2513965" y="3201035"/>
            <a:ext cx="449580" cy="182880"/>
          </a:xfrm>
          <a:prstGeom prst="rect">
            <a:avLst/>
          </a:prstGeom>
          <a:noFill/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8" name="Elbow Connector 37"/>
          <p:cNvCxnSpPr>
            <a:stCxn id="36" idx="1"/>
            <a:endCxn id="7" idx="1"/>
          </p:cNvCxnSpPr>
          <p:nvPr/>
        </p:nvCxnSpPr>
        <p:spPr>
          <a:xfrm rot="10800000" flipH="1">
            <a:off x="2513965" y="2767330"/>
            <a:ext cx="76200" cy="525145"/>
          </a:xfrm>
          <a:prstGeom prst="bentConnector3">
            <a:avLst>
              <a:gd name="adj1" fmla="val -99999"/>
            </a:avLst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Rectangles 39"/>
          <p:cNvSpPr/>
          <p:nvPr/>
        </p:nvSpPr>
        <p:spPr>
          <a:xfrm>
            <a:off x="3187700" y="3201035"/>
            <a:ext cx="1291590" cy="182880"/>
          </a:xfrm>
          <a:prstGeom prst="rect">
            <a:avLst/>
          </a:prstGeom>
          <a:noFill/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stCxn id="40" idx="3"/>
            <a:endCxn id="26" idx="1"/>
          </p:cNvCxnSpPr>
          <p:nvPr/>
        </p:nvCxnSpPr>
        <p:spPr>
          <a:xfrm>
            <a:off x="4479290" y="3292475"/>
            <a:ext cx="224155" cy="210185"/>
          </a:xfrm>
          <a:prstGeom prst="straightConnector1">
            <a:avLst/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Rectangles 42"/>
          <p:cNvSpPr/>
          <p:nvPr/>
        </p:nvSpPr>
        <p:spPr>
          <a:xfrm>
            <a:off x="2513965" y="3433445"/>
            <a:ext cx="1965960" cy="182880"/>
          </a:xfrm>
          <a:prstGeom prst="rect">
            <a:avLst/>
          </a:prstGeom>
          <a:noFill/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Rectangles 44"/>
          <p:cNvSpPr/>
          <p:nvPr/>
        </p:nvSpPr>
        <p:spPr>
          <a:xfrm>
            <a:off x="2513965" y="3665855"/>
            <a:ext cx="1965960" cy="182880"/>
          </a:xfrm>
          <a:prstGeom prst="rect">
            <a:avLst/>
          </a:prstGeom>
          <a:noFill/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8" name="Elbow Connector 47"/>
          <p:cNvCxnSpPr>
            <a:stCxn id="45" idx="1"/>
            <a:endCxn id="28" idx="1"/>
          </p:cNvCxnSpPr>
          <p:nvPr/>
        </p:nvCxnSpPr>
        <p:spPr>
          <a:xfrm rot="10800000" flipH="1" flipV="1">
            <a:off x="2513965" y="3757295"/>
            <a:ext cx="3175" cy="424815"/>
          </a:xfrm>
          <a:prstGeom prst="bentConnector3">
            <a:avLst>
              <a:gd name="adj1" fmla="val -3000000"/>
            </a:avLst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s 5"/>
          <p:cNvSpPr/>
          <p:nvPr/>
        </p:nvSpPr>
        <p:spPr>
          <a:xfrm>
            <a:off x="4703445" y="3935095"/>
            <a:ext cx="1280160" cy="49403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Temporal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Metadata </a:t>
            </a:r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§X.X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Straight Arrow Connector 8"/>
          <p:cNvCxnSpPr>
            <a:stCxn id="40" idx="3"/>
            <a:endCxn id="6" idx="1"/>
          </p:cNvCxnSpPr>
          <p:nvPr/>
        </p:nvCxnSpPr>
        <p:spPr>
          <a:xfrm>
            <a:off x="4479290" y="3292475"/>
            <a:ext cx="224155" cy="889635"/>
          </a:xfrm>
          <a:prstGeom prst="straightConnector1">
            <a:avLst/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43" idx="1"/>
            <a:endCxn id="28" idx="1"/>
          </p:cNvCxnSpPr>
          <p:nvPr/>
        </p:nvCxnSpPr>
        <p:spPr>
          <a:xfrm rot="10800000" flipH="1" flipV="1">
            <a:off x="2513965" y="3524250"/>
            <a:ext cx="3175" cy="657225"/>
          </a:xfrm>
          <a:prstGeom prst="bentConnector3">
            <a:avLst>
              <a:gd name="adj1" fmla="val -3000000"/>
            </a:avLst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Rounded Rectangle 44"/>
          <p:cNvSpPr/>
          <p:nvPr/>
        </p:nvSpPr>
        <p:spPr>
          <a:xfrm>
            <a:off x="1896745" y="3776980"/>
            <a:ext cx="4410710" cy="9601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1896745" y="2682875"/>
            <a:ext cx="4410710" cy="1046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0202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2083435" y="3037205"/>
            <a:ext cx="887730" cy="51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2083435" y="3279775"/>
            <a:ext cx="887730" cy="1714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16B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956435" y="2762250"/>
            <a:ext cx="1187450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VA[47:42]=1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681730" y="3037205"/>
            <a:ext cx="887730" cy="51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519805" y="2762250"/>
            <a:ext cx="1210945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VA[47:42]=3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3681730" y="3222625"/>
            <a:ext cx="885190" cy="271145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64B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5263515" y="3036570"/>
            <a:ext cx="887730" cy="5207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106670" y="2762250"/>
            <a:ext cx="1200785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VA[47:42]=N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5263515" y="3122930"/>
            <a:ext cx="887730" cy="37084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sz="1400" baseline="30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N+3</a:t>
            </a:r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4699000" y="2977515"/>
            <a:ext cx="434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2084070" y="3813810"/>
            <a:ext cx="4067175" cy="201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PD4[512]  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2084070" y="3814445"/>
            <a:ext cx="374650" cy="2025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2" name="Straight Arrow Connector 41"/>
          <p:cNvCxnSpPr>
            <a:stCxn id="9" idx="2"/>
            <a:endCxn id="30" idx="0"/>
          </p:cNvCxnSpPr>
          <p:nvPr/>
        </p:nvCxnSpPr>
        <p:spPr>
          <a:xfrm flipH="1">
            <a:off x="2271395" y="3556635"/>
            <a:ext cx="255905" cy="257810"/>
          </a:xfrm>
          <a:prstGeom prst="straightConnector1">
            <a:avLst/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Rectangles 34"/>
          <p:cNvSpPr/>
          <p:nvPr/>
        </p:nvSpPr>
        <p:spPr>
          <a:xfrm>
            <a:off x="2814955" y="3813810"/>
            <a:ext cx="374650" cy="19875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6" name="Straight Arrow Connector 35"/>
          <p:cNvCxnSpPr>
            <a:stCxn id="14" idx="2"/>
            <a:endCxn id="35" idx="0"/>
          </p:cNvCxnSpPr>
          <p:nvPr/>
        </p:nvCxnSpPr>
        <p:spPr>
          <a:xfrm flipH="1">
            <a:off x="3002280" y="3556635"/>
            <a:ext cx="1123315" cy="257175"/>
          </a:xfrm>
          <a:prstGeom prst="straightConnector1">
            <a:avLst/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Rectangles 36"/>
          <p:cNvSpPr/>
          <p:nvPr/>
        </p:nvSpPr>
        <p:spPr>
          <a:xfrm>
            <a:off x="5263515" y="3813810"/>
            <a:ext cx="374650" cy="19875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8" name="Straight Arrow Connector 37"/>
          <p:cNvCxnSpPr>
            <a:stCxn id="20" idx="2"/>
            <a:endCxn id="37" idx="0"/>
          </p:cNvCxnSpPr>
          <p:nvPr/>
        </p:nvCxnSpPr>
        <p:spPr>
          <a:xfrm flipH="1">
            <a:off x="5450840" y="3557270"/>
            <a:ext cx="256540" cy="256540"/>
          </a:xfrm>
          <a:prstGeom prst="straightConnector1">
            <a:avLst/>
          </a:prstGeom>
          <a:ln>
            <a:solidFill>
              <a:srgbClr val="202020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Text Box 39"/>
          <p:cNvSpPr txBox="1"/>
          <p:nvPr/>
        </p:nvSpPr>
        <p:spPr>
          <a:xfrm>
            <a:off x="3084830" y="2977515"/>
            <a:ext cx="434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1896745" y="237617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Virtual address &amp; size partition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084070" y="4120515"/>
            <a:ext cx="580390" cy="530860"/>
            <a:chOff x="3282" y="6689"/>
            <a:chExt cx="914" cy="836"/>
          </a:xfrm>
        </p:grpSpPr>
        <p:sp>
          <p:nvSpPr>
            <p:cNvPr id="46" name="Rectangles 45"/>
            <p:cNvSpPr/>
            <p:nvPr/>
          </p:nvSpPr>
          <p:spPr>
            <a:xfrm>
              <a:off x="3282" y="6689"/>
              <a:ext cx="915" cy="8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PD3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3351" y="6964"/>
              <a:ext cx="288" cy="488"/>
              <a:chOff x="7899" y="4676"/>
              <a:chExt cx="342" cy="488"/>
            </a:xfrm>
          </p:grpSpPr>
          <p:sp>
            <p:nvSpPr>
              <p:cNvPr id="49" name="Rectangles 48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51" name="Rectangles 50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2" name="Rectangles 51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3" name="Rectangles 52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54" name="Group 53"/>
            <p:cNvGrpSpPr/>
            <p:nvPr/>
          </p:nvGrpSpPr>
          <p:grpSpPr>
            <a:xfrm>
              <a:off x="3810" y="6964"/>
              <a:ext cx="282" cy="488"/>
              <a:chOff x="7899" y="4676"/>
              <a:chExt cx="342" cy="488"/>
            </a:xfrm>
          </p:grpSpPr>
          <p:sp>
            <p:nvSpPr>
              <p:cNvPr id="55" name="Rectangles 54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57" name="Rectangles 56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8" name="Rectangles 57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9" name="Rectangles 58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cxnSp>
          <p:nvCxnSpPr>
            <p:cNvPr id="60" name="Elbow Connector 59"/>
            <p:cNvCxnSpPr/>
            <p:nvPr/>
          </p:nvCxnSpPr>
          <p:spPr>
            <a:xfrm>
              <a:off x="3640" y="7147"/>
              <a:ext cx="170" cy="24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2814955" y="4120515"/>
            <a:ext cx="580390" cy="530860"/>
            <a:chOff x="3282" y="6689"/>
            <a:chExt cx="914" cy="836"/>
          </a:xfrm>
        </p:grpSpPr>
        <p:sp>
          <p:nvSpPr>
            <p:cNvPr id="63" name="Rectangles 62"/>
            <p:cNvSpPr/>
            <p:nvPr/>
          </p:nvSpPr>
          <p:spPr>
            <a:xfrm>
              <a:off x="3282" y="6689"/>
              <a:ext cx="915" cy="8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PD3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3351" y="6964"/>
              <a:ext cx="288" cy="488"/>
              <a:chOff x="7899" y="4676"/>
              <a:chExt cx="342" cy="488"/>
            </a:xfrm>
          </p:grpSpPr>
          <p:sp>
            <p:nvSpPr>
              <p:cNvPr id="65" name="Rectangles 64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67" name="Rectangles 66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8" name="Rectangles 67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9" name="Rectangles 68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70" name="Group 69"/>
            <p:cNvGrpSpPr/>
            <p:nvPr/>
          </p:nvGrpSpPr>
          <p:grpSpPr>
            <a:xfrm>
              <a:off x="3810" y="6964"/>
              <a:ext cx="282" cy="488"/>
              <a:chOff x="7899" y="4676"/>
              <a:chExt cx="342" cy="488"/>
            </a:xfrm>
          </p:grpSpPr>
          <p:sp>
            <p:nvSpPr>
              <p:cNvPr id="71" name="Rectangles 70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72" name="Group 71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73" name="Rectangles 72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4" name="Rectangles 73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5" name="Rectangles 74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cxnSp>
          <p:nvCxnSpPr>
            <p:cNvPr id="76" name="Elbow Connector 75"/>
            <p:cNvCxnSpPr/>
            <p:nvPr/>
          </p:nvCxnSpPr>
          <p:spPr>
            <a:xfrm>
              <a:off x="3640" y="7147"/>
              <a:ext cx="170" cy="24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5044440" y="4120515"/>
            <a:ext cx="580390" cy="530860"/>
            <a:chOff x="3282" y="6689"/>
            <a:chExt cx="914" cy="836"/>
          </a:xfrm>
        </p:grpSpPr>
        <p:sp>
          <p:nvSpPr>
            <p:cNvPr id="78" name="Rectangles 77"/>
            <p:cNvSpPr/>
            <p:nvPr/>
          </p:nvSpPr>
          <p:spPr>
            <a:xfrm>
              <a:off x="3282" y="6689"/>
              <a:ext cx="915" cy="8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PD3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3351" y="6964"/>
              <a:ext cx="288" cy="488"/>
              <a:chOff x="7899" y="4676"/>
              <a:chExt cx="342" cy="488"/>
            </a:xfrm>
          </p:grpSpPr>
          <p:sp>
            <p:nvSpPr>
              <p:cNvPr id="80" name="Rectangles 79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81" name="Group 80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82" name="Rectangles 81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83" name="Rectangles 82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84" name="Rectangles 83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85" name="Group 84"/>
            <p:cNvGrpSpPr/>
            <p:nvPr/>
          </p:nvGrpSpPr>
          <p:grpSpPr>
            <a:xfrm>
              <a:off x="3810" y="6964"/>
              <a:ext cx="282" cy="488"/>
              <a:chOff x="7899" y="4676"/>
              <a:chExt cx="342" cy="488"/>
            </a:xfrm>
          </p:grpSpPr>
          <p:sp>
            <p:nvSpPr>
              <p:cNvPr id="86" name="Rectangles 85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87" name="Group 86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88" name="Rectangles 87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89" name="Rectangles 88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0" name="Rectangles 89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cxnSp>
          <p:nvCxnSpPr>
            <p:cNvPr id="91" name="Elbow Connector 90"/>
            <p:cNvCxnSpPr/>
            <p:nvPr/>
          </p:nvCxnSpPr>
          <p:spPr>
            <a:xfrm>
              <a:off x="3640" y="7147"/>
              <a:ext cx="170" cy="24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2" name="Text Box 91"/>
          <p:cNvSpPr txBox="1"/>
          <p:nvPr/>
        </p:nvSpPr>
        <p:spPr>
          <a:xfrm>
            <a:off x="5669280" y="4083050"/>
            <a:ext cx="749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MMU PTEs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Rectangles 93"/>
          <p:cNvSpPr/>
          <p:nvPr/>
        </p:nvSpPr>
        <p:spPr>
          <a:xfrm>
            <a:off x="4540250" y="3813810"/>
            <a:ext cx="374650" cy="19875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Rectangles 94"/>
          <p:cNvSpPr/>
          <p:nvPr/>
        </p:nvSpPr>
        <p:spPr>
          <a:xfrm>
            <a:off x="3343910" y="3818255"/>
            <a:ext cx="374650" cy="19875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l"/>
            <a:endParaRPr lang="en-US" sz="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3907155" y="4120515"/>
            <a:ext cx="580390" cy="530860"/>
            <a:chOff x="3282" y="6689"/>
            <a:chExt cx="914" cy="836"/>
          </a:xfrm>
        </p:grpSpPr>
        <p:sp>
          <p:nvSpPr>
            <p:cNvPr id="97" name="Rectangles 96"/>
            <p:cNvSpPr/>
            <p:nvPr/>
          </p:nvSpPr>
          <p:spPr>
            <a:xfrm>
              <a:off x="3282" y="6689"/>
              <a:ext cx="915" cy="8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p>
              <a:pPr algn="l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PD3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98" name="Group 97"/>
            <p:cNvGrpSpPr/>
            <p:nvPr/>
          </p:nvGrpSpPr>
          <p:grpSpPr>
            <a:xfrm>
              <a:off x="3351" y="6964"/>
              <a:ext cx="288" cy="488"/>
              <a:chOff x="7899" y="4676"/>
              <a:chExt cx="342" cy="488"/>
            </a:xfrm>
          </p:grpSpPr>
          <p:sp>
            <p:nvSpPr>
              <p:cNvPr id="99" name="Rectangles 98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00" name="Group 99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101" name="Rectangles 100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2" name="Rectangles 101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3" name="Rectangles 102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104" name="Group 103"/>
            <p:cNvGrpSpPr/>
            <p:nvPr/>
          </p:nvGrpSpPr>
          <p:grpSpPr>
            <a:xfrm>
              <a:off x="3810" y="6964"/>
              <a:ext cx="282" cy="488"/>
              <a:chOff x="7899" y="4676"/>
              <a:chExt cx="342" cy="488"/>
            </a:xfrm>
          </p:grpSpPr>
          <p:sp>
            <p:nvSpPr>
              <p:cNvPr id="105" name="Rectangles 104"/>
              <p:cNvSpPr/>
              <p:nvPr/>
            </p:nvSpPr>
            <p:spPr>
              <a:xfrm>
                <a:off x="7899" y="4920"/>
                <a:ext cx="343" cy="1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p>
                <a:pPr algn="l"/>
                <a:endPara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7899" y="4676"/>
                <a:ext cx="342" cy="488"/>
                <a:chOff x="7792" y="3597"/>
                <a:chExt cx="342" cy="488"/>
              </a:xfrm>
            </p:grpSpPr>
            <p:sp>
              <p:nvSpPr>
                <p:cNvPr id="107" name="Rectangles 106"/>
                <p:cNvSpPr/>
                <p:nvPr/>
              </p:nvSpPr>
              <p:spPr>
                <a:xfrm>
                  <a:off x="7792" y="3597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8" name="Rectangles 107"/>
                <p:cNvSpPr/>
                <p:nvPr/>
              </p:nvSpPr>
              <p:spPr>
                <a:xfrm>
                  <a:off x="7792" y="3719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9" name="Rectangles 108"/>
                <p:cNvSpPr/>
                <p:nvPr/>
              </p:nvSpPr>
              <p:spPr>
                <a:xfrm>
                  <a:off x="7792" y="3963"/>
                  <a:ext cx="343" cy="122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p>
                  <a:pPr algn="l"/>
                  <a:endParaRPr lang="en-US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cxnSp>
          <p:nvCxnSpPr>
            <p:cNvPr id="110" name="Elbow Connector 109"/>
            <p:cNvCxnSpPr/>
            <p:nvPr/>
          </p:nvCxnSpPr>
          <p:spPr>
            <a:xfrm>
              <a:off x="3640" y="7147"/>
              <a:ext cx="170" cy="24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1" name="Text Box 110"/>
          <p:cNvSpPr txBox="1"/>
          <p:nvPr/>
        </p:nvSpPr>
        <p:spPr>
          <a:xfrm>
            <a:off x="4540250" y="4067175"/>
            <a:ext cx="434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Text Box 111"/>
          <p:cNvSpPr txBox="1"/>
          <p:nvPr/>
        </p:nvSpPr>
        <p:spPr>
          <a:xfrm>
            <a:off x="3441700" y="4067175"/>
            <a:ext cx="434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2511425" y="2881630"/>
            <a:ext cx="884555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039620" y="3376930"/>
            <a:ext cx="471805" cy="2286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77770" y="2592070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buf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42335" y="2811780"/>
            <a:ext cx="2549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1. allocate 20 bytes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2511425" y="3376930"/>
            <a:ext cx="884555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477770" y="3087370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buf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42335" y="3307080"/>
            <a:ext cx="2816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2. prepend 8-byte metadata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955165" y="3087370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555115" y="3872230"/>
            <a:ext cx="476250" cy="2286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031365" y="3872230"/>
            <a:ext cx="884555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953895" y="3582670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buf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442335" y="3802380"/>
            <a:ext cx="2549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3. align </a:t>
            </a:r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buf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to 2</a:t>
            </a:r>
            <a:r>
              <a:rPr lang="en-US" sz="1600" baseline="3000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bytes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445260" y="3582670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915920" y="3872230"/>
            <a:ext cx="48006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816860" y="3582670"/>
            <a:ext cx="6788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pad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3" name="Elbow Connector 22"/>
          <p:cNvCxnSpPr>
            <a:stCxn id="13" idx="1"/>
            <a:endCxn id="14" idx="2"/>
          </p:cNvCxnSpPr>
          <p:nvPr/>
        </p:nvCxnSpPr>
        <p:spPr>
          <a:xfrm rot="10800000" flipH="1" flipV="1">
            <a:off x="1554480" y="3986530"/>
            <a:ext cx="918845" cy="114300"/>
          </a:xfrm>
          <a:prstGeom prst="bentConnector4">
            <a:avLst>
              <a:gd name="adj1" fmla="val -11955"/>
              <a:gd name="adj2" fmla="val 246111"/>
            </a:avLst>
          </a:prstGeom>
          <a:ln>
            <a:solidFill>
              <a:srgbClr val="20202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>
            <a:off x="1555115" y="4167505"/>
            <a:ext cx="786765" cy="2152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size:20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7" name="&quot;No&quot; Symbol 26"/>
          <p:cNvSpPr/>
          <p:nvPr/>
        </p:nvSpPr>
        <p:spPr>
          <a:xfrm>
            <a:off x="3284855" y="4001135"/>
            <a:ext cx="167005" cy="166370"/>
          </a:xfrm>
          <a:prstGeom prst="noSmoking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075940" y="2621280"/>
            <a:ext cx="2539365" cy="9271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%obj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= </a:t>
            </a:r>
            <a:r>
              <a:rPr lang="en-US" sz="1000">
                <a:solidFill>
                  <a:srgbClr val="1552D1"/>
                </a:solidFill>
                <a:effectLst/>
                <a:latin typeface="Courier New" panose="02070309020205020404" charset="0"/>
                <a:cs typeface="Courier New" panose="02070309020205020404" charset="0"/>
              </a:rPr>
              <a:t>alloca </a:t>
            </a:r>
            <a:r>
              <a:rPr lang="en-US" sz="1000">
                <a:solidFill>
                  <a:srgbClr val="00B050"/>
                </a:solidFill>
                <a:effectLst/>
                <a:latin typeface="Courier New" panose="02070309020205020404" charset="0"/>
                <a:cs typeface="Courier New" panose="02070309020205020404" charset="0"/>
              </a:rPr>
              <a:t>24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align </a:t>
            </a:r>
            <a:r>
              <a:rPr lang="en-US" sz="1000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32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%tagged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=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or </a:t>
            </a:r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%shifted, %tag</a:t>
            </a:r>
            <a:endParaRPr lang="en-US" sz="1000">
              <a:solidFill>
                <a:schemeClr val="accent4">
                  <a:lumMod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...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%raw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=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and </a:t>
            </a:r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%shifted, %tagMask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%val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=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load </a:t>
            </a:r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%raw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854325" y="2621280"/>
            <a:ext cx="221615" cy="9271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1938020" y="3232150"/>
            <a:ext cx="1899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Global pointer 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3796030" y="3019425"/>
            <a:ext cx="59563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offset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3304540" y="3019425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align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938020" y="3975100"/>
            <a:ext cx="18510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Local pointer 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215005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46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565525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41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2021205" y="3019425"/>
            <a:ext cx="1036955" cy="2743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nv. fixed. 0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056255" y="3752850"/>
            <a:ext cx="24638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213100" y="3510280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46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564765" y="3752850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align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981960" y="3510280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47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456180" y="3510280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53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304540" y="3752850"/>
            <a:ext cx="1085850" cy="2743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nv. offset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391660" y="3019425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739640" y="276288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389755" y="3752850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4737735" y="3510280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2022475" y="3752850"/>
            <a:ext cx="542290" cy="274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meta.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1938020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63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941195" y="3510280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63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3058160" y="3019425"/>
            <a:ext cx="24638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2981960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47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ectangles 12"/>
          <p:cNvSpPr/>
          <p:nvPr/>
        </p:nvSpPr>
        <p:spPr>
          <a:xfrm>
            <a:off x="3428365" y="2426335"/>
            <a:ext cx="476250" cy="2286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904615" y="2426335"/>
            <a:ext cx="884555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827145" y="2136775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buf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318510" y="2136775"/>
            <a:ext cx="509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4789170" y="2426335"/>
            <a:ext cx="48006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4690110" y="2136775"/>
            <a:ext cx="6788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pad</a:t>
            </a:r>
            <a:endParaRPr 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3" name="Elbow Connector 22"/>
          <p:cNvCxnSpPr>
            <a:stCxn id="13" idx="1"/>
            <a:endCxn id="14" idx="2"/>
          </p:cNvCxnSpPr>
          <p:nvPr/>
        </p:nvCxnSpPr>
        <p:spPr>
          <a:xfrm rot="10800000" flipH="1" flipV="1">
            <a:off x="3427730" y="2540635"/>
            <a:ext cx="918845" cy="114300"/>
          </a:xfrm>
          <a:prstGeom prst="bentConnector4">
            <a:avLst>
              <a:gd name="adj1" fmla="val -11955"/>
              <a:gd name="adj2" fmla="val 246111"/>
            </a:avLst>
          </a:prstGeom>
          <a:ln>
            <a:solidFill>
              <a:srgbClr val="20202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>
            <a:off x="3428365" y="2721610"/>
            <a:ext cx="786765" cy="2152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size:20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428365" y="2974340"/>
            <a:ext cx="476250" cy="2286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904615" y="2974340"/>
            <a:ext cx="1364615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24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Elbow Connector 6"/>
          <p:cNvCxnSpPr>
            <a:endCxn id="5" idx="2"/>
          </p:cNvCxnSpPr>
          <p:nvPr/>
        </p:nvCxnSpPr>
        <p:spPr>
          <a:xfrm>
            <a:off x="3418205" y="3088640"/>
            <a:ext cx="929005" cy="114300"/>
          </a:xfrm>
          <a:prstGeom prst="bentConnector4">
            <a:avLst>
              <a:gd name="adj1" fmla="val -10321"/>
              <a:gd name="adj2" fmla="val 247777"/>
            </a:avLst>
          </a:prstGeom>
          <a:ln>
            <a:solidFill>
              <a:srgbClr val="20202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3428365" y="3253105"/>
            <a:ext cx="786765" cy="2152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p>
            <a:r>
              <a:rPr lang="en-US" sz="1400" b="1">
                <a:latin typeface="Courier New" panose="02070309020205020404" charset="0"/>
                <a:cs typeface="Courier New" panose="02070309020205020404" charset="0"/>
              </a:rPr>
              <a:t>size:0</a:t>
            </a:r>
            <a:endParaRPr lang="en-US" sz="14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0" name="&quot;No&quot; Symbol 9"/>
          <p:cNvSpPr/>
          <p:nvPr/>
        </p:nvSpPr>
        <p:spPr>
          <a:xfrm>
            <a:off x="4398010" y="3088640"/>
            <a:ext cx="208280" cy="194310"/>
          </a:xfrm>
          <a:prstGeom prst="noSmoking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L-Shape 10"/>
          <p:cNvSpPr/>
          <p:nvPr/>
        </p:nvSpPr>
        <p:spPr>
          <a:xfrm rot="18780000">
            <a:off x="4417060" y="2583180"/>
            <a:ext cx="170180" cy="125730"/>
          </a:xfrm>
          <a:prstGeom prst="corner">
            <a:avLst/>
          </a:prstGeom>
          <a:solidFill>
            <a:srgbClr val="39FF19"/>
          </a:solidFill>
          <a:ln>
            <a:solidFill>
              <a:srgbClr val="39FF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Curved Left Arrow 19"/>
          <p:cNvSpPr/>
          <p:nvPr/>
        </p:nvSpPr>
        <p:spPr>
          <a:xfrm>
            <a:off x="5351780" y="2473325"/>
            <a:ext cx="408305" cy="729615"/>
          </a:xfrm>
          <a:prstGeom prst="curvedLeftArrow">
            <a:avLst/>
          </a:prstGeom>
          <a:solidFill>
            <a:schemeClr val="bg1">
              <a:lumMod val="50000"/>
            </a:schemeClr>
          </a:solidFill>
          <a:ln>
            <a:solidFill>
              <a:srgbClr val="3232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005070" y="2628265"/>
            <a:ext cx="1588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cudaFree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return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3904615" y="3178810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904615" y="3407410"/>
            <a:ext cx="520700" cy="2286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</a:t>
            </a:r>
            <a:endParaRPr lang="en-US"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506595" y="3293110"/>
            <a:ext cx="317500" cy="142875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4905375" y="3178810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905375" y="3407410"/>
            <a:ext cx="520700" cy="2286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 i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600" i="1" u="sng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425315" y="3370580"/>
            <a:ext cx="6216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exit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906135" y="3178810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906135" y="3407410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var</a:t>
            </a:r>
            <a:endParaRPr lang="en-US" sz="16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5426075" y="3360420"/>
            <a:ext cx="670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entry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3183890" y="3469640"/>
            <a:ext cx="445135" cy="195580"/>
          </a:xfrm>
          <a:prstGeom prst="rect">
            <a:avLst/>
          </a:prstGeom>
          <a:noFill/>
          <a:ln>
            <a:solidFill>
              <a:srgbClr val="202020"/>
            </a:solidFill>
          </a:ln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en-US" sz="1200">
                <a:latin typeface="Courier New" panose="02070309020205020404" charset="0"/>
                <a:cs typeface="Courier New" panose="02070309020205020404" charset="0"/>
              </a:rPr>
              <a:t>ptr</a:t>
            </a:r>
            <a:endParaRPr lang="en-US" sz="1200">
              <a:latin typeface="Courier New" panose="02070309020205020404" charset="0"/>
              <a:cs typeface="Courier New" panose="02070309020205020404" charset="0"/>
            </a:endParaRPr>
          </a:p>
        </p:txBody>
      </p:sp>
      <p:cxnSp>
        <p:nvCxnSpPr>
          <p:cNvPr id="33" name="Curved Connector 32"/>
          <p:cNvCxnSpPr>
            <a:stCxn id="31" idx="3"/>
            <a:endCxn id="5" idx="1"/>
          </p:cNvCxnSpPr>
          <p:nvPr/>
        </p:nvCxnSpPr>
        <p:spPr>
          <a:xfrm flipV="1">
            <a:off x="3629025" y="3293110"/>
            <a:ext cx="275590" cy="27432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Right Arrow 34"/>
          <p:cNvSpPr/>
          <p:nvPr/>
        </p:nvSpPr>
        <p:spPr>
          <a:xfrm>
            <a:off x="5507355" y="3293110"/>
            <a:ext cx="317500" cy="142875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L-Shape 35"/>
          <p:cNvSpPr/>
          <p:nvPr/>
        </p:nvSpPr>
        <p:spPr>
          <a:xfrm rot="18780000">
            <a:off x="4319905" y="3540760"/>
            <a:ext cx="170180" cy="125730"/>
          </a:xfrm>
          <a:prstGeom prst="corner">
            <a:avLst/>
          </a:prstGeom>
          <a:solidFill>
            <a:srgbClr val="39FF19"/>
          </a:solidFill>
          <a:ln>
            <a:solidFill>
              <a:srgbClr val="39FF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Lightning Bolt 37"/>
          <p:cNvSpPr/>
          <p:nvPr/>
        </p:nvSpPr>
        <p:spPr>
          <a:xfrm>
            <a:off x="6327775" y="3494405"/>
            <a:ext cx="167005" cy="214630"/>
          </a:xfrm>
          <a:prstGeom prst="lightningBol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L-Shape 38"/>
          <p:cNvSpPr/>
          <p:nvPr/>
        </p:nvSpPr>
        <p:spPr>
          <a:xfrm rot="18780000">
            <a:off x="5333365" y="3541395"/>
            <a:ext cx="170180" cy="125730"/>
          </a:xfrm>
          <a:prstGeom prst="corner">
            <a:avLst/>
          </a:prstGeom>
          <a:solidFill>
            <a:srgbClr val="39FF19"/>
          </a:solidFill>
          <a:ln>
            <a:solidFill>
              <a:srgbClr val="39FF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 Box 16"/>
          <p:cNvSpPr txBox="1"/>
          <p:nvPr/>
        </p:nvSpPr>
        <p:spPr>
          <a:xfrm>
            <a:off x="2766695" y="2839720"/>
            <a:ext cx="2587625" cy="1322070"/>
          </a:xfrm>
          <a:prstGeom prst="rect">
            <a:avLst/>
          </a:prstGeom>
          <a:noFill/>
          <a:ln w="12700" cmpd="sng">
            <a:solidFill>
              <a:srgbClr val="202020"/>
            </a:solidFill>
            <a:prstDash val="solid"/>
          </a:ln>
        </p:spPr>
        <p:txBody>
          <a:bodyPr wrap="square" lIns="18415" rIns="0" rtlCol="0">
            <a:noAutofit/>
          </a:bodyPr>
          <a:p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void </a:t>
            </a:r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func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() {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f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  <a:sym typeface="+mn-ea"/>
              </a:rPr>
              <a:t>_d=++_d[tid]; f_g=++_g[f_d];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buf[</a:t>
            </a:r>
            <a:r>
              <a:rPr lang="en-US" sz="1000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10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];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assign_epoch(buf, f_d, f_g);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  <a:sym typeface="+mn-ea"/>
              </a:rPr>
              <a:t>*ptr = local();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 b="1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if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(f_d &gt; ptr_d || f_g != ptr_g)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  report_violation();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_d[tid]--;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545080" y="2839720"/>
            <a:ext cx="221615" cy="13220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6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7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8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5416550" y="3256915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buf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5416550" y="3485515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5416550" y="3714115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416550" y="3942715"/>
            <a:ext cx="5207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969635" y="3942715"/>
            <a:ext cx="36512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sz="1200" baseline="-25000">
                <a:latin typeface="Times New Roman" panose="02020603050405020304" charset="0"/>
                <a:cs typeface="Times New Roman" panose="02020603050405020304" charset="0"/>
              </a:rPr>
              <a:t>parent</a:t>
            </a:r>
            <a:endParaRPr lang="en-US" sz="12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5969635" y="3529965"/>
            <a:ext cx="29781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sz="1200" baseline="-25000">
                <a:latin typeface="Times New Roman" panose="02020603050405020304" charset="0"/>
                <a:cs typeface="Times New Roman" panose="02020603050405020304" charset="0"/>
              </a:rPr>
              <a:t>func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5416550" y="2799715"/>
            <a:ext cx="520700" cy="228600"/>
          </a:xfrm>
          <a:prstGeom prst="rect">
            <a:avLst/>
          </a:prstGeom>
          <a:pattFill prst="ltDn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5416550" y="3028315"/>
            <a:ext cx="520700" cy="228600"/>
          </a:xfrm>
          <a:prstGeom prst="rect">
            <a:avLst/>
          </a:prstGeom>
          <a:pattFill prst="ltDn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Curved Connector 27"/>
          <p:cNvCxnSpPr>
            <a:stCxn id="24" idx="3"/>
            <a:endCxn id="25" idx="3"/>
          </p:cNvCxnSpPr>
          <p:nvPr/>
        </p:nvCxnSpPr>
        <p:spPr>
          <a:xfrm flipH="1" flipV="1">
            <a:off x="5937250" y="2914015"/>
            <a:ext cx="330200" cy="708025"/>
          </a:xfrm>
          <a:prstGeom prst="curvedConnector3">
            <a:avLst>
              <a:gd name="adj1" fmla="val -7211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Text Box 29"/>
          <p:cNvSpPr txBox="1"/>
          <p:nvPr/>
        </p:nvSpPr>
        <p:spPr>
          <a:xfrm>
            <a:off x="5969635" y="3117215"/>
            <a:ext cx="29781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sz="1200" baseline="-25000">
                <a:latin typeface="Times New Roman" panose="02020603050405020304" charset="0"/>
                <a:cs typeface="Times New Roman" panose="02020603050405020304" charset="0"/>
              </a:rPr>
              <a:t>local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&quot;No&quot; Symbol 31"/>
          <p:cNvSpPr/>
          <p:nvPr/>
        </p:nvSpPr>
        <p:spPr>
          <a:xfrm>
            <a:off x="6193155" y="2922905"/>
            <a:ext cx="208280" cy="194310"/>
          </a:xfrm>
          <a:prstGeom prst="noSmoking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112260" y="2324735"/>
            <a:ext cx="24638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4269105" y="208216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46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3620770" y="2324735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align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4037965" y="208216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47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3512185" y="208216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53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4360545" y="2324735"/>
            <a:ext cx="1085850" cy="2743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nv. offset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5445760" y="2324735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5793740" y="208216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3078480" y="2324735"/>
            <a:ext cx="542290" cy="274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gen.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Text Box 56"/>
          <p:cNvSpPr txBox="1"/>
          <p:nvPr/>
        </p:nvSpPr>
        <p:spPr>
          <a:xfrm>
            <a:off x="2997200" y="208216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58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 Box 57"/>
          <p:cNvSpPr txBox="1"/>
          <p:nvPr/>
        </p:nvSpPr>
        <p:spPr>
          <a:xfrm>
            <a:off x="2454275" y="2583180"/>
            <a:ext cx="27305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Local ptr. with epoch @ [63:54]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2536190" y="2324735"/>
            <a:ext cx="542290" cy="274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depth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425700" y="208216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63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292985" y="3275330"/>
            <a:ext cx="1899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Global pointer 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3796030" y="3019425"/>
            <a:ext cx="788035" cy="27432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rand.</a:t>
            </a:r>
            <a:endParaRPr lang="en-US" sz="1400" b="1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3304540" y="3019425"/>
            <a:ext cx="4914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215005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46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565525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41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2407285" y="3019425"/>
            <a:ext cx="650875" cy="2743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582160" y="3019425"/>
            <a:ext cx="30099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358005" y="2745105"/>
            <a:ext cx="605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i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739640" y="276288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2261870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63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3058160" y="3019425"/>
            <a:ext cx="24638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2981960" y="2778125"/>
            <a:ext cx="394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47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1" name="Elbow Connector 20"/>
          <p:cNvCxnSpPr>
            <a:stCxn id="7" idx="0"/>
            <a:endCxn id="9" idx="0"/>
          </p:cNvCxnSpPr>
          <p:nvPr/>
        </p:nvCxnSpPr>
        <p:spPr>
          <a:xfrm rot="16200000" flipH="1">
            <a:off x="5199380" y="2011045"/>
            <a:ext cx="3175" cy="1357630"/>
          </a:xfrm>
          <a:prstGeom prst="bentConnector3">
            <a:avLst>
              <a:gd name="adj1" fmla="val -4290000"/>
            </a:avLst>
          </a:prstGeom>
          <a:ln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s 5"/>
          <p:cNvSpPr/>
          <p:nvPr/>
        </p:nvSpPr>
        <p:spPr>
          <a:xfrm>
            <a:off x="4855845" y="2689860"/>
            <a:ext cx="765175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unmod.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184650" y="2689860"/>
            <a:ext cx="671195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621020" y="2689860"/>
            <a:ext cx="51435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off.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552825" y="2621915"/>
            <a:ext cx="9220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Before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876800" y="2434908"/>
            <a:ext cx="645795" cy="24574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spAutoFit/>
          </a:bodyPr>
          <a:p>
            <a:pPr algn="ctr"/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tag: n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648075" y="3130550"/>
            <a:ext cx="9220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After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184650" y="3184525"/>
            <a:ext cx="1950720" cy="22733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result pointer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Flowchart: Summing Junction 19"/>
          <p:cNvSpPr/>
          <p:nvPr/>
        </p:nvSpPr>
        <p:spPr>
          <a:xfrm rot="2700000">
            <a:off x="5068534" y="2965491"/>
            <a:ext cx="182880" cy="182880"/>
          </a:xfrm>
          <a:prstGeom prst="flowChartSummingJunction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Equal 21"/>
          <p:cNvSpPr/>
          <p:nvPr/>
        </p:nvSpPr>
        <p:spPr>
          <a:xfrm rot="5400000">
            <a:off x="5046345" y="3435985"/>
            <a:ext cx="223520" cy="194945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84650" y="3679825"/>
            <a:ext cx="143637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sz="1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5621020" y="3677920"/>
            <a:ext cx="513715" cy="2286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sz="1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L-Shape 38"/>
          <p:cNvSpPr/>
          <p:nvPr/>
        </p:nvSpPr>
        <p:spPr>
          <a:xfrm rot="18780000">
            <a:off x="5541645" y="3583940"/>
            <a:ext cx="170180" cy="125730"/>
          </a:xfrm>
          <a:prstGeom prst="corner">
            <a:avLst/>
          </a:prstGeom>
          <a:solidFill>
            <a:srgbClr val="39FF19"/>
          </a:solidFill>
          <a:ln>
            <a:solidFill>
              <a:srgbClr val="39FF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3552825" y="3639185"/>
            <a:ext cx="9220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xor’ed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Curved Left Arrow 25"/>
          <p:cNvSpPr/>
          <p:nvPr/>
        </p:nvSpPr>
        <p:spPr>
          <a:xfrm>
            <a:off x="6228080" y="2692400"/>
            <a:ext cx="408305" cy="729615"/>
          </a:xfrm>
          <a:prstGeom prst="curvedLeftArrow">
            <a:avLst/>
          </a:prstGeom>
          <a:solidFill>
            <a:schemeClr val="bg1">
              <a:lumMod val="50000"/>
            </a:schemeClr>
          </a:solidFill>
          <a:ln>
            <a:solidFill>
              <a:srgbClr val="3232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104255" y="289877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arith.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lowchart: Process 3"/>
          <p:cNvSpPr/>
          <p:nvPr/>
        </p:nvSpPr>
        <p:spPr>
          <a:xfrm>
            <a:off x="4666615" y="2308860"/>
            <a:ext cx="504825" cy="1619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b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ptr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lowchart: Decision 5"/>
          <p:cNvSpPr/>
          <p:nvPr/>
        </p:nvSpPr>
        <p:spPr>
          <a:xfrm>
            <a:off x="4500245" y="3003550"/>
            <a:ext cx="833120" cy="29527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local?</a:t>
            </a:r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>
            <a:off x="4918075" y="2902585"/>
            <a:ext cx="1270" cy="9461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9" idx="1"/>
          </p:cNvCxnSpPr>
          <p:nvPr/>
        </p:nvCxnSpPr>
        <p:spPr>
          <a:xfrm>
            <a:off x="5333365" y="3151505"/>
            <a:ext cx="234950" cy="254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2"/>
            <a:endCxn id="7" idx="0"/>
          </p:cNvCxnSpPr>
          <p:nvPr/>
        </p:nvCxnSpPr>
        <p:spPr>
          <a:xfrm flipH="1">
            <a:off x="4914900" y="3320415"/>
            <a:ext cx="1057910" cy="10858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8" idx="0"/>
          </p:cNvCxnSpPr>
          <p:nvPr/>
        </p:nvCxnSpPr>
        <p:spPr>
          <a:xfrm flipH="1">
            <a:off x="4918075" y="2470785"/>
            <a:ext cx="1270" cy="9842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7" idx="0"/>
          </p:cNvCxnSpPr>
          <p:nvPr/>
        </p:nvCxnSpPr>
        <p:spPr>
          <a:xfrm flipH="1">
            <a:off x="4914900" y="3298825"/>
            <a:ext cx="1905" cy="13017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5314950" y="2971800"/>
            <a:ext cx="250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Y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690745" y="3241675"/>
            <a:ext cx="250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N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Flowchart: Process 22"/>
          <p:cNvSpPr/>
          <p:nvPr/>
        </p:nvSpPr>
        <p:spPr>
          <a:xfrm>
            <a:off x="5565140" y="3429000"/>
            <a:ext cx="808355" cy="3905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memory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access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Straight Arrow Connector 23"/>
          <p:cNvCxnSpPr>
            <a:endCxn id="23" idx="1"/>
          </p:cNvCxnSpPr>
          <p:nvPr/>
        </p:nvCxnSpPr>
        <p:spPr>
          <a:xfrm>
            <a:off x="5330190" y="3624580"/>
            <a:ext cx="234950" cy="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5568315" y="2944495"/>
            <a:ext cx="955675" cy="375285"/>
            <a:chOff x="8778" y="3892"/>
            <a:chExt cx="1505" cy="591"/>
          </a:xfrm>
        </p:grpSpPr>
        <p:sp>
          <p:nvSpPr>
            <p:cNvPr id="9" name="Flowchart: Process 8"/>
            <p:cNvSpPr/>
            <p:nvPr/>
          </p:nvSpPr>
          <p:spPr>
            <a:xfrm>
              <a:off x="8778" y="3959"/>
              <a:ext cx="1273" cy="52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</a:t>
              </a:r>
              <a:endPara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stack epoch</a:t>
              </a:r>
              <a:endPara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" name="Horizontal Scroll 24"/>
            <p:cNvSpPr/>
            <p:nvPr/>
          </p:nvSpPr>
          <p:spPr>
            <a:xfrm>
              <a:off x="9721" y="3892"/>
              <a:ext cx="563" cy="390"/>
            </a:xfrm>
            <a:prstGeom prst="horizontalScrol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§4.4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502150" y="2511425"/>
            <a:ext cx="969645" cy="390525"/>
            <a:chOff x="7094" y="4605"/>
            <a:chExt cx="1527" cy="615"/>
          </a:xfrm>
        </p:grpSpPr>
        <p:sp>
          <p:nvSpPr>
            <p:cNvPr id="8" name="Flowchart: Process 7"/>
            <p:cNvSpPr/>
            <p:nvPr/>
          </p:nvSpPr>
          <p:spPr>
            <a:xfrm>
              <a:off x="7094" y="4696"/>
              <a:ext cx="1309" cy="52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</a:t>
              </a:r>
              <a:endPara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highest bits</a:t>
              </a:r>
              <a:endPara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Horizontal Scroll 25"/>
            <p:cNvSpPr/>
            <p:nvPr/>
          </p:nvSpPr>
          <p:spPr>
            <a:xfrm>
              <a:off x="8059" y="4605"/>
              <a:ext cx="563" cy="390"/>
            </a:xfrm>
            <a:prstGeom prst="horizontalScrol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§4.5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499610" y="3375025"/>
            <a:ext cx="969645" cy="443865"/>
            <a:chOff x="7094" y="5376"/>
            <a:chExt cx="1527" cy="699"/>
          </a:xfrm>
        </p:grpSpPr>
        <p:sp>
          <p:nvSpPr>
            <p:cNvPr id="7" name="Flowchart: Process 6"/>
            <p:cNvSpPr/>
            <p:nvPr/>
          </p:nvSpPr>
          <p:spPr>
            <a:xfrm>
              <a:off x="7094" y="5461"/>
              <a:ext cx="1308" cy="61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</a:t>
              </a:r>
              <a:endPara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exact bounds</a:t>
              </a:r>
              <a:endPara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Horizontal Scroll 26"/>
            <p:cNvSpPr/>
            <p:nvPr/>
          </p:nvSpPr>
          <p:spPr>
            <a:xfrm>
              <a:off x="8059" y="5376"/>
              <a:ext cx="563" cy="390"/>
            </a:xfrm>
            <a:prstGeom prst="horizontalScrol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§4.3</a:t>
              </a:r>
              <a:endParaRPr 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 Box 16"/>
          <p:cNvSpPr txBox="1"/>
          <p:nvPr/>
        </p:nvSpPr>
        <p:spPr>
          <a:xfrm>
            <a:off x="2934335" y="1028700"/>
            <a:ext cx="2743200" cy="1290320"/>
          </a:xfrm>
          <a:prstGeom prst="rect">
            <a:avLst/>
          </a:prstGeom>
          <a:noFill/>
          <a:ln w="12700" cmpd="sng">
            <a:solidFill>
              <a:srgbClr val="202020"/>
            </a:solidFill>
            <a:prstDash val="solid"/>
          </a:ln>
        </p:spPr>
        <p:txBody>
          <a:bodyPr wrap="square" lIns="27305" rIns="0" rtlCol="0">
            <a:noAutofit/>
          </a:bodyPr>
          <a:p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__global__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void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ker() {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__shared__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A[</a:t>
            </a:r>
            <a:r>
              <a:rPr lang="en-US" sz="1000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10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];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tid = threadIdx.x;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_check(A, tid);   // Cdom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if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(tid % </a:t>
            </a:r>
            <a:r>
              <a:rPr lang="en-US" sz="1000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32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&gt; </a:t>
            </a:r>
            <a:r>
              <a:rPr lang="en-US" sz="1000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28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) {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solidFill>
                  <a:schemeClr val="bg1">
                    <a:lumMod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    _check(A, tid); // Csub</a:t>
            </a:r>
            <a:endParaRPr lang="en-US" sz="1000" b="1">
              <a:solidFill>
                <a:schemeClr val="bg1">
                  <a:lumMod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714625" y="1028065"/>
            <a:ext cx="221615" cy="1290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6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7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8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34335" y="2594610"/>
            <a:ext cx="2743200" cy="1291590"/>
          </a:xfrm>
          <a:prstGeom prst="rect">
            <a:avLst/>
          </a:prstGeom>
          <a:noFill/>
          <a:ln w="12700" cmpd="sng">
            <a:solidFill>
              <a:srgbClr val="202020"/>
            </a:solidFill>
            <a:prstDash val="solid"/>
          </a:ln>
        </p:spPr>
        <p:txBody>
          <a:bodyPr wrap="square" lIns="27305" rIns="0" rtlCol="0">
            <a:noAutofit/>
          </a:bodyPr>
          <a:p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__global__ void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ker(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* A,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N){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 l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= tIdx.x, s = bDim.x;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for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(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i=l;i&lt;N;i+=s) {  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  _check(A, i+</a:t>
            </a:r>
            <a:r>
              <a:rPr lang="en-US" sz="1000" b="1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);   // Cmax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solidFill>
                  <a:srgbClr val="B2B2B2"/>
                </a:solidFill>
                <a:latin typeface="Courier New" panose="02070309020205020404" charset="0"/>
                <a:cs typeface="Courier New" panose="02070309020205020404" charset="0"/>
              </a:rPr>
              <a:t> // _check(A, i+1);</a:t>
            </a:r>
            <a:endParaRPr lang="en-US" sz="1000" b="1">
              <a:solidFill>
                <a:srgbClr val="B2B2B2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  _check(A, i+</a:t>
            </a:r>
            <a:r>
              <a:rPr lang="en-US" sz="1000" b="1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0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);   // Cmin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934335" y="4161790"/>
            <a:ext cx="2743200" cy="1291590"/>
          </a:xfrm>
          <a:prstGeom prst="rect">
            <a:avLst/>
          </a:prstGeom>
          <a:noFill/>
          <a:ln w="12700" cmpd="sng">
            <a:solidFill>
              <a:srgbClr val="202020"/>
            </a:solidFill>
            <a:prstDash val="solid"/>
          </a:ln>
        </p:spPr>
        <p:txBody>
          <a:bodyPr wrap="square" lIns="27305" rIns="0" rtlCol="0">
            <a:noAutofit/>
          </a:bodyPr>
          <a:p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__global__ void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ker(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* A,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N){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  <a:sym typeface="+mn-ea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int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  <a:sym typeface="+mn-ea"/>
              </a:rPr>
              <a:t> l=tIdx.x, s=bDim.x;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_check(A, </a:t>
            </a:r>
            <a:r>
              <a:rPr lang="en-US" sz="1000" b="1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0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);     // Cmin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  _check(A, N - </a:t>
            </a:r>
            <a:r>
              <a:rPr lang="en-US" sz="1000" b="1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r>
              <a:rPr lang="en-US" sz="1000" b="1">
                <a:latin typeface="Courier New" panose="02070309020205020404" charset="0"/>
                <a:cs typeface="Courier New" panose="02070309020205020404" charset="0"/>
              </a:rPr>
              <a:t>); // Cmax</a:t>
            </a:r>
            <a:endParaRPr lang="en-US" sz="10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for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(</a:t>
            </a:r>
            <a:r>
              <a:rPr lang="en-US" sz="1000">
                <a:solidFill>
                  <a:srgbClr val="1552D1"/>
                </a:solidFill>
                <a:latin typeface="Courier New" panose="02070309020205020404" charset="0"/>
                <a:cs typeface="Courier New" panose="02070309020205020404" charset="0"/>
              </a:rPr>
              <a:t>int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i=l;i&lt;N;i+=s) {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solidFill>
                  <a:srgbClr val="B2B2B2"/>
                </a:solidFill>
                <a:latin typeface="Courier New" panose="02070309020205020404" charset="0"/>
                <a:cs typeface="Courier New" panose="02070309020205020404" charset="0"/>
              </a:rPr>
              <a:t>    _check(A, i);  </a:t>
            </a:r>
            <a:endParaRPr lang="en-US" sz="1000" b="1">
              <a:solidFill>
                <a:srgbClr val="B2B2B2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 b="1">
                <a:solidFill>
                  <a:srgbClr val="B2B2B2"/>
                </a:solidFill>
                <a:latin typeface="Courier New" panose="02070309020205020404" charset="0"/>
                <a:cs typeface="Courier New" panose="02070309020205020404" charset="0"/>
              </a:rPr>
              <a:t> 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en-US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305175" y="2319020"/>
            <a:ext cx="22783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(a) Recurring check.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305175" y="3886200"/>
            <a:ext cx="22783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(b) Neighboring check.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305175" y="5453380"/>
            <a:ext cx="22783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(c) Loop-inductive check.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712720" y="2595245"/>
            <a:ext cx="221615" cy="1290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6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7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8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714625" y="4162425"/>
            <a:ext cx="221615" cy="1290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6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7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l"/>
            <a:r>
              <a:rPr lang="en-US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8</a:t>
            </a:r>
            <a:endParaRPr lang="en-US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Flowchart: Process 26"/>
          <p:cNvSpPr/>
          <p:nvPr/>
        </p:nvSpPr>
        <p:spPr>
          <a:xfrm>
            <a:off x="3030220" y="4173855"/>
            <a:ext cx="822960" cy="390525"/>
          </a:xfrm>
          <a:prstGeom prst="flowChartProcess">
            <a:avLst/>
          </a:prstGeom>
          <a:solidFill>
            <a:schemeClr val="bg1"/>
          </a:solidFill>
          <a:ln w="31750">
            <a:solidFill>
              <a:srgbClr val="76B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DNN/CNN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Flowchart: Process 22"/>
          <p:cNvSpPr/>
          <p:nvPr/>
        </p:nvSpPr>
        <p:spPr>
          <a:xfrm>
            <a:off x="2348230" y="3260090"/>
            <a:ext cx="822960" cy="390525"/>
          </a:xfrm>
          <a:prstGeom prst="flowChartProcess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.cu</a:t>
            </a:r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Flowchart: Process 3"/>
          <p:cNvSpPr/>
          <p:nvPr/>
        </p:nvSpPr>
        <p:spPr>
          <a:xfrm>
            <a:off x="4641215" y="3260090"/>
            <a:ext cx="822960" cy="390525"/>
          </a:xfrm>
          <a:prstGeom prst="flowChartProcess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.ll/.ptx</a:t>
            </a:r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3399790" y="3135630"/>
            <a:ext cx="1012825" cy="639445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Flowchart: Process 5"/>
          <p:cNvSpPr/>
          <p:nvPr/>
        </p:nvSpPr>
        <p:spPr>
          <a:xfrm>
            <a:off x="3502660" y="3221990"/>
            <a:ext cx="809625" cy="209550"/>
          </a:xfrm>
          <a:prstGeom prst="flowChartProcess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opt </a:t>
            </a:r>
            <a:r>
              <a:rPr lang="en-US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-On</a:t>
            </a:r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" name="Flowchart: Process 6"/>
          <p:cNvSpPr/>
          <p:nvPr/>
        </p:nvSpPr>
        <p:spPr>
          <a:xfrm>
            <a:off x="3502660" y="3474720"/>
            <a:ext cx="809625" cy="209550"/>
          </a:xfrm>
          <a:prstGeom prst="flowChartProcess">
            <a:avLst/>
          </a:prstGeom>
          <a:solidFill>
            <a:schemeClr val="bg1"/>
          </a:solidFill>
          <a:ln w="31750" cmpd="sng">
            <a:solidFill>
              <a:srgbClr val="76B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</a:t>
            </a:r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pass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350260" y="2890520"/>
            <a:ext cx="11118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LLVM frontend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492750" y="2891155"/>
            <a:ext cx="11118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NVCC backend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347595" y="3818255"/>
            <a:ext cx="4111625" cy="76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2205990" y="2891155"/>
            <a:ext cx="11068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CUDA file</a:t>
            </a:r>
            <a:endParaRPr lang="en-US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4491355" y="2891155"/>
            <a:ext cx="111633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LLVM IR</a:t>
            </a:r>
            <a:endParaRPr lang="en-US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Curved Left Arrow 25"/>
          <p:cNvSpPr/>
          <p:nvPr/>
        </p:nvSpPr>
        <p:spPr>
          <a:xfrm>
            <a:off x="6536690" y="3368040"/>
            <a:ext cx="408305" cy="1067435"/>
          </a:xfrm>
          <a:prstGeom prst="curvedLeftArrow">
            <a:avLst/>
          </a:prstGeom>
          <a:solidFill>
            <a:schemeClr val="tx1"/>
          </a:solidFill>
          <a:ln>
            <a:solidFill>
              <a:srgbClr val="3232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/>
          <p:cNvSpPr/>
          <p:nvPr/>
        </p:nvSpPr>
        <p:spPr>
          <a:xfrm>
            <a:off x="5636260" y="4173855"/>
            <a:ext cx="822960" cy="390525"/>
          </a:xfrm>
          <a:prstGeom prst="flowChartProcess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DNN/CNN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492115" y="3917315"/>
            <a:ext cx="11118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Instr. app.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ight Arrow 19"/>
          <p:cNvSpPr/>
          <p:nvPr/>
        </p:nvSpPr>
        <p:spPr>
          <a:xfrm rot="10800000">
            <a:off x="2348230" y="4634230"/>
            <a:ext cx="4111625" cy="76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Flowchart: Process 21"/>
          <p:cNvSpPr/>
          <p:nvPr/>
        </p:nvSpPr>
        <p:spPr>
          <a:xfrm>
            <a:off x="4412615" y="4173855"/>
            <a:ext cx="822960" cy="390525"/>
          </a:xfrm>
          <a:prstGeom prst="flowChartProcess">
            <a:avLst/>
          </a:prstGeom>
          <a:solidFill>
            <a:schemeClr val="bg1"/>
          </a:solidFill>
          <a:ln w="31750">
            <a:solidFill>
              <a:srgbClr val="76B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cudaApi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.so</a:t>
            </a:r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67835" y="3910330"/>
            <a:ext cx="11118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</a:t>
            </a:r>
            <a:r>
              <a:rPr 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</a:t>
            </a:r>
            <a:r>
              <a:rPr 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dynlib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Plus 24"/>
          <p:cNvSpPr/>
          <p:nvPr/>
        </p:nvSpPr>
        <p:spPr>
          <a:xfrm>
            <a:off x="5321935" y="4262120"/>
            <a:ext cx="228600" cy="2286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Equal 27"/>
          <p:cNvSpPr/>
          <p:nvPr/>
        </p:nvSpPr>
        <p:spPr>
          <a:xfrm>
            <a:off x="4020820" y="4276090"/>
            <a:ext cx="223520" cy="194945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2908935" y="3910330"/>
            <a:ext cx="11118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Hardened app.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Smiley Face 29"/>
          <p:cNvSpPr/>
          <p:nvPr/>
        </p:nvSpPr>
        <p:spPr>
          <a:xfrm>
            <a:off x="3726815" y="4093210"/>
            <a:ext cx="237490" cy="223520"/>
          </a:xfrm>
          <a:prstGeom prst="smileyFac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432685" y="4114165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432685" y="4421505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2432685" y="4267835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608580" y="4182745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604770" y="4378325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1" idx="6"/>
            <a:endCxn id="34" idx="1"/>
          </p:cNvCxnSpPr>
          <p:nvPr/>
        </p:nvCxnSpPr>
        <p:spPr>
          <a:xfrm>
            <a:off x="2569845" y="4182745"/>
            <a:ext cx="59055" cy="20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3" idx="6"/>
            <a:endCxn id="34" idx="3"/>
          </p:cNvCxnSpPr>
          <p:nvPr/>
        </p:nvCxnSpPr>
        <p:spPr>
          <a:xfrm flipV="1">
            <a:off x="2569845" y="4299585"/>
            <a:ext cx="59055" cy="36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2" idx="5"/>
            <a:endCxn id="35" idx="3"/>
          </p:cNvCxnSpPr>
          <p:nvPr/>
        </p:nvCxnSpPr>
        <p:spPr>
          <a:xfrm flipV="1">
            <a:off x="2549525" y="4495165"/>
            <a:ext cx="75565" cy="43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6"/>
            <a:endCxn id="35" idx="1"/>
          </p:cNvCxnSpPr>
          <p:nvPr/>
        </p:nvCxnSpPr>
        <p:spPr>
          <a:xfrm>
            <a:off x="2569845" y="4336415"/>
            <a:ext cx="55245" cy="62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806065" y="4381500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809240" y="4182745"/>
            <a:ext cx="137160" cy="13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34" idx="6"/>
            <a:endCxn id="41" idx="1"/>
          </p:cNvCxnSpPr>
          <p:nvPr/>
        </p:nvCxnSpPr>
        <p:spPr>
          <a:xfrm>
            <a:off x="2745740" y="4251325"/>
            <a:ext cx="80645" cy="150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5" idx="6"/>
            <a:endCxn id="42" idx="3"/>
          </p:cNvCxnSpPr>
          <p:nvPr/>
        </p:nvCxnSpPr>
        <p:spPr>
          <a:xfrm flipV="1">
            <a:off x="2741930" y="4299585"/>
            <a:ext cx="87630" cy="14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4" idx="6"/>
            <a:endCxn id="42" idx="2"/>
          </p:cNvCxnSpPr>
          <p:nvPr/>
        </p:nvCxnSpPr>
        <p:spPr>
          <a:xfrm>
            <a:off x="2745740" y="4251325"/>
            <a:ext cx="63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5" idx="6"/>
            <a:endCxn id="41" idx="2"/>
          </p:cNvCxnSpPr>
          <p:nvPr/>
        </p:nvCxnSpPr>
        <p:spPr>
          <a:xfrm>
            <a:off x="2741930" y="4446905"/>
            <a:ext cx="64135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Picture 20" descr="lo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895" y="3963035"/>
            <a:ext cx="214630" cy="214630"/>
          </a:xfrm>
          <a:prstGeom prst="rect">
            <a:avLst/>
          </a:prstGeom>
        </p:spPr>
      </p:pic>
      <p:sp>
        <p:nvSpPr>
          <p:cNvPr id="2" name="Flowchart: Process 1"/>
          <p:cNvSpPr/>
          <p:nvPr/>
        </p:nvSpPr>
        <p:spPr>
          <a:xfrm>
            <a:off x="5652135" y="3261360"/>
            <a:ext cx="822960" cy="390525"/>
          </a:xfrm>
          <a:prstGeom prst="flowChartProcess">
            <a:avLst/>
          </a:prstGeom>
          <a:solidFill>
            <a:srgbClr val="76B9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NVIDIA’s</a:t>
            </a:r>
            <a:endParaRPr lang="en-US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Magic</a:t>
            </a:r>
            <a:endParaRPr lang="en-US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427095" y="2935605"/>
            <a:ext cx="1308100" cy="245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buffer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825115" y="2935605"/>
            <a:ext cx="601980" cy="24511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4011930" y="1956435"/>
            <a:ext cx="601980" cy="245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off.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844800" y="1956435"/>
            <a:ext cx="601980" cy="245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tag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3446780" y="1956435"/>
            <a:ext cx="569595" cy="245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Elbow Connector 8"/>
          <p:cNvCxnSpPr>
            <a:stCxn id="6" idx="3"/>
            <a:endCxn id="4" idx="0"/>
          </p:cNvCxnSpPr>
          <p:nvPr/>
        </p:nvCxnSpPr>
        <p:spPr>
          <a:xfrm flipH="1">
            <a:off x="4081145" y="2078990"/>
            <a:ext cx="532765" cy="856615"/>
          </a:xfrm>
          <a:prstGeom prst="bentConnector4">
            <a:avLst>
              <a:gd name="adj1" fmla="val -25029"/>
              <a:gd name="adj2" fmla="val 90882"/>
            </a:avLst>
          </a:prstGeom>
          <a:ln w="190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2023745" y="2874010"/>
            <a:ext cx="8210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Mem.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678940" y="1894840"/>
            <a:ext cx="1165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Orig.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Curved Connector 13"/>
          <p:cNvCxnSpPr>
            <a:stCxn id="7" idx="2"/>
            <a:endCxn id="16" idx="0"/>
          </p:cNvCxnSpPr>
          <p:nvPr/>
        </p:nvCxnSpPr>
        <p:spPr>
          <a:xfrm rot="5400000" flipV="1">
            <a:off x="3607118" y="1740218"/>
            <a:ext cx="244475" cy="11671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4081145" y="2154555"/>
            <a:ext cx="7632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clears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011930" y="2446020"/>
            <a:ext cx="601980" cy="245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844800" y="2447290"/>
            <a:ext cx="601980" cy="24511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tag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446780" y="2447290"/>
            <a:ext cx="565150" cy="245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" name="Elbow Connector 18"/>
          <p:cNvCxnSpPr>
            <a:stCxn id="16" idx="2"/>
            <a:endCxn id="13" idx="0"/>
          </p:cNvCxnSpPr>
          <p:nvPr/>
        </p:nvCxnSpPr>
        <p:spPr>
          <a:xfrm rot="5400000">
            <a:off x="3597275" y="2219325"/>
            <a:ext cx="244475" cy="1186815"/>
          </a:xfrm>
          <a:prstGeom prst="bentConnector3">
            <a:avLst>
              <a:gd name="adj1" fmla="val 47532"/>
            </a:avLst>
          </a:prstGeom>
          <a:ln w="190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1678940" y="2384425"/>
            <a:ext cx="1165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Meta.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3578225" y="2557145"/>
            <a:ext cx="737235" cy="1841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3227705" y="2557145"/>
            <a:ext cx="350520" cy="1841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295015" y="1459064"/>
            <a:ext cx="940435" cy="757567"/>
            <a:chOff x="5189" y="1876"/>
            <a:chExt cx="1481" cy="1804"/>
          </a:xfrm>
        </p:grpSpPr>
        <p:sp>
          <p:nvSpPr>
            <p:cNvPr id="5" name="Freeform 4"/>
            <p:cNvSpPr/>
            <p:nvPr/>
          </p:nvSpPr>
          <p:spPr>
            <a:xfrm>
              <a:off x="5635" y="2532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5835" y="2532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6035" y="2532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5189" y="1876"/>
              <a:ext cx="1481" cy="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200" b="1">
                  <a:latin typeface="Times New Roman" panose="02020603050405020304" charset="0"/>
                  <a:cs typeface="Times New Roman" panose="02020603050405020304" charset="0"/>
                </a:rPr>
                <a:t>N Threads</a:t>
              </a:r>
              <a:endParaRPr lang="en-US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5404" y="2448"/>
              <a:ext cx="1083" cy="1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14" name="Straight Arrow Connector 13"/>
          <p:cNvCxnSpPr>
            <a:stCxn id="13" idx="2"/>
            <a:endCxn id="12" idx="0"/>
          </p:cNvCxnSpPr>
          <p:nvPr/>
        </p:nvCxnSpPr>
        <p:spPr>
          <a:xfrm flipH="1">
            <a:off x="3402965" y="2216785"/>
            <a:ext cx="372745" cy="34036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2964180" y="2223770"/>
            <a:ext cx="675640" cy="3257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grouped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N→1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7" name="Straight Arrow Connector 16"/>
          <p:cNvCxnSpPr>
            <a:stCxn id="13" idx="2"/>
            <a:endCxn id="11" idx="0"/>
          </p:cNvCxnSpPr>
          <p:nvPr/>
        </p:nvCxnSpPr>
        <p:spPr>
          <a:xfrm>
            <a:off x="3775710" y="2216785"/>
            <a:ext cx="171450" cy="34036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</p:cNvCxnSpPr>
          <p:nvPr/>
        </p:nvCxnSpPr>
        <p:spPr>
          <a:xfrm flipH="1">
            <a:off x="3731260" y="2216785"/>
            <a:ext cx="44450" cy="35369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2"/>
          </p:cNvCxnSpPr>
          <p:nvPr/>
        </p:nvCxnSpPr>
        <p:spPr>
          <a:xfrm>
            <a:off x="3775710" y="2216785"/>
            <a:ext cx="360680" cy="33718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3832225" y="2230120"/>
            <a:ext cx="675640" cy="2292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N access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950210" y="2710815"/>
            <a:ext cx="1606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N+1 access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CuSan’s metadata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5382260" y="2555240"/>
            <a:ext cx="645795" cy="1841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4940300" y="2553970"/>
            <a:ext cx="350520" cy="187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5007610" y="1457159"/>
            <a:ext cx="940435" cy="757567"/>
            <a:chOff x="5189" y="1876"/>
            <a:chExt cx="1481" cy="1804"/>
          </a:xfrm>
        </p:grpSpPr>
        <p:sp>
          <p:nvSpPr>
            <p:cNvPr id="26" name="Freeform 25"/>
            <p:cNvSpPr/>
            <p:nvPr/>
          </p:nvSpPr>
          <p:spPr>
            <a:xfrm>
              <a:off x="5635" y="2532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835" y="2532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6035" y="2532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5189" y="1876"/>
              <a:ext cx="1481" cy="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200" b="1">
                  <a:latin typeface="Times New Roman" panose="02020603050405020304" charset="0"/>
                  <a:cs typeface="Times New Roman" panose="02020603050405020304" charset="0"/>
                </a:rPr>
                <a:t>N Threads</a:t>
              </a:r>
              <a:endParaRPr lang="en-US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0" name="Rectangles 29"/>
            <p:cNvSpPr/>
            <p:nvPr/>
          </p:nvSpPr>
          <p:spPr>
            <a:xfrm>
              <a:off x="5404" y="2448"/>
              <a:ext cx="1083" cy="1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37" name="Text Box 36"/>
          <p:cNvSpPr txBox="1"/>
          <p:nvPr/>
        </p:nvSpPr>
        <p:spPr>
          <a:xfrm>
            <a:off x="4777105" y="2710815"/>
            <a:ext cx="1401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2N access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Shadow metadata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8" name="Straight Arrow Connector 37"/>
          <p:cNvCxnSpPr>
            <a:stCxn id="30" idx="2"/>
            <a:endCxn id="24" idx="0"/>
          </p:cNvCxnSpPr>
          <p:nvPr/>
        </p:nvCxnSpPr>
        <p:spPr>
          <a:xfrm flipH="1">
            <a:off x="5115560" y="2214880"/>
            <a:ext cx="372745" cy="33909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0" idx="2"/>
          </p:cNvCxnSpPr>
          <p:nvPr/>
        </p:nvCxnSpPr>
        <p:spPr>
          <a:xfrm flipH="1">
            <a:off x="5231130" y="2214880"/>
            <a:ext cx="257175" cy="33210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0" idx="2"/>
          </p:cNvCxnSpPr>
          <p:nvPr/>
        </p:nvCxnSpPr>
        <p:spPr>
          <a:xfrm flipH="1">
            <a:off x="5007610" y="2214880"/>
            <a:ext cx="480695" cy="33401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Text Box 41"/>
          <p:cNvSpPr txBox="1"/>
          <p:nvPr/>
        </p:nvSpPr>
        <p:spPr>
          <a:xfrm>
            <a:off x="4645025" y="2233930"/>
            <a:ext cx="675640" cy="2292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N query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4" name="Straight Arrow Connector 43"/>
          <p:cNvCxnSpPr>
            <a:stCxn id="30" idx="2"/>
            <a:endCxn id="23" idx="0"/>
          </p:cNvCxnSpPr>
          <p:nvPr/>
        </p:nvCxnSpPr>
        <p:spPr>
          <a:xfrm>
            <a:off x="5488305" y="2214880"/>
            <a:ext cx="217170" cy="340360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0" idx="2"/>
          </p:cNvCxnSpPr>
          <p:nvPr/>
        </p:nvCxnSpPr>
        <p:spPr>
          <a:xfrm>
            <a:off x="5488305" y="2214880"/>
            <a:ext cx="400050" cy="34607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0" idx="2"/>
          </p:cNvCxnSpPr>
          <p:nvPr/>
        </p:nvCxnSpPr>
        <p:spPr>
          <a:xfrm>
            <a:off x="5488305" y="2214880"/>
            <a:ext cx="33655" cy="346075"/>
          </a:xfrm>
          <a:prstGeom prst="straightConnector1">
            <a:avLst/>
          </a:prstGeom>
          <a:ln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Text Box 47"/>
          <p:cNvSpPr txBox="1"/>
          <p:nvPr/>
        </p:nvSpPr>
        <p:spPr>
          <a:xfrm>
            <a:off x="5544820" y="2230755"/>
            <a:ext cx="675640" cy="2292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N access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Flowchart: Process 12"/>
          <p:cNvSpPr/>
          <p:nvPr/>
        </p:nvSpPr>
        <p:spPr>
          <a:xfrm>
            <a:off x="3253105" y="2343785"/>
            <a:ext cx="1923415" cy="878205"/>
          </a:xfrm>
          <a:prstGeom prst="flowChartProcess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" name="Flowchart: Process 4"/>
          <p:cNvSpPr/>
          <p:nvPr/>
        </p:nvSpPr>
        <p:spPr>
          <a:xfrm>
            <a:off x="3253105" y="1254760"/>
            <a:ext cx="1922780" cy="1089025"/>
          </a:xfrm>
          <a:prstGeom prst="flowChartProcess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261360" y="1239989"/>
            <a:ext cx="940435" cy="978034"/>
            <a:chOff x="5216" y="1876"/>
            <a:chExt cx="1481" cy="2329"/>
          </a:xfrm>
        </p:grpSpPr>
        <p:sp>
          <p:nvSpPr>
            <p:cNvPr id="26" name="Freeform 25"/>
            <p:cNvSpPr/>
            <p:nvPr/>
          </p:nvSpPr>
          <p:spPr>
            <a:xfrm>
              <a:off x="5635" y="3078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835" y="3078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6035" y="3078"/>
              <a:ext cx="189" cy="1020"/>
            </a:xfrm>
            <a:custGeom>
              <a:avLst/>
              <a:gdLst>
                <a:gd name="connisteX0" fmla="*/ 433707 w 433707"/>
                <a:gd name="connsiteY0" fmla="*/ 0 h 987425"/>
                <a:gd name="connisteX1" fmla="*/ 2 w 433707"/>
                <a:gd name="connsiteY1" fmla="*/ 327025 h 987425"/>
                <a:gd name="connisteX2" fmla="*/ 427357 w 433707"/>
                <a:gd name="connsiteY2" fmla="*/ 565785 h 987425"/>
                <a:gd name="connisteX3" fmla="*/ 38102 w 433707"/>
                <a:gd name="connsiteY3" fmla="*/ 987425 h 987425"/>
                <a:gd name="connisteX4" fmla="*/ 307977 w 433707"/>
                <a:gd name="connsiteY4" fmla="*/ 1106805 h 9874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33708" h="987425">
                  <a:moveTo>
                    <a:pt x="433708" y="0"/>
                  </a:moveTo>
                  <a:cubicBezTo>
                    <a:pt x="338458" y="60325"/>
                    <a:pt x="1273" y="213995"/>
                    <a:pt x="3" y="327025"/>
                  </a:cubicBezTo>
                  <a:cubicBezTo>
                    <a:pt x="-1267" y="440055"/>
                    <a:pt x="419738" y="433705"/>
                    <a:pt x="427358" y="565785"/>
                  </a:cubicBezTo>
                  <a:cubicBezTo>
                    <a:pt x="434978" y="697865"/>
                    <a:pt x="62233" y="879475"/>
                    <a:pt x="38103" y="98742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5216" y="1876"/>
              <a:ext cx="1481" cy="1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200" b="1">
                  <a:latin typeface="Times New Roman" panose="02020603050405020304" charset="0"/>
                  <a:cs typeface="Times New Roman" panose="02020603050405020304" charset="0"/>
                </a:rPr>
                <a:t>GPU threads</a:t>
              </a:r>
              <a:endParaRPr lang="en-US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0" name="Rectangles 29"/>
            <p:cNvSpPr/>
            <p:nvPr/>
          </p:nvSpPr>
          <p:spPr>
            <a:xfrm>
              <a:off x="5404" y="2973"/>
              <a:ext cx="1083" cy="1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7" name="Rectangles 6"/>
          <p:cNvSpPr/>
          <p:nvPr/>
        </p:nvSpPr>
        <p:spPr>
          <a:xfrm>
            <a:off x="4152900" y="2016125"/>
            <a:ext cx="519430" cy="20193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tag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672330" y="2016125"/>
            <a:ext cx="346075" cy="20193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130040" y="1769579"/>
            <a:ext cx="940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Tagged ptr.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767580" y="1557655"/>
            <a:ext cx="262255" cy="20193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164330" y="1557655"/>
            <a:ext cx="602615" cy="20193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</a:t>
            </a:r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022725" y="1290955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Buf. w. meta.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Flowchart: Process 22"/>
          <p:cNvSpPr/>
          <p:nvPr/>
        </p:nvSpPr>
        <p:spPr>
          <a:xfrm>
            <a:off x="3253105" y="1254760"/>
            <a:ext cx="3197860" cy="1967865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endParaRPr lang="en-US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4" name="Right Arrow 13"/>
          <p:cNvSpPr/>
          <p:nvPr/>
        </p:nvSpPr>
        <p:spPr>
          <a:xfrm rot="5400000">
            <a:off x="3556635" y="2293620"/>
            <a:ext cx="314325" cy="23241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3399155" y="2600325"/>
            <a:ext cx="519430" cy="20193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tag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918585" y="2600325"/>
            <a:ext cx="196215" cy="20193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..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159125" y="2261870"/>
            <a:ext cx="48831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4800"/>
          </a:p>
        </p:txBody>
      </p:sp>
      <p:sp>
        <p:nvSpPr>
          <p:cNvPr id="18" name="Text Box 17"/>
          <p:cNvSpPr txBox="1"/>
          <p:nvPr/>
        </p:nvSpPr>
        <p:spPr>
          <a:xfrm>
            <a:off x="3727450" y="2337435"/>
            <a:ext cx="568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deref.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176270" y="2407920"/>
            <a:ext cx="456565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>
                <a:latin typeface="Liberation Mono" panose="02070409020205020404" charset="0"/>
                <a:cs typeface="Liberation Mono" panose="02070409020205020404" charset="0"/>
              </a:rPr>
              <a:t>*</a:t>
            </a:r>
            <a:endParaRPr lang="en-US" sz="3600">
              <a:latin typeface="Liberation Mono" panose="02070409020205020404" charset="0"/>
              <a:cs typeface="Liberation Mono" panose="02070409020205020404" charset="0"/>
            </a:endParaRPr>
          </a:p>
        </p:txBody>
      </p:sp>
      <p:sp>
        <p:nvSpPr>
          <p:cNvPr id="20" name="Curved Left Arrow 19"/>
          <p:cNvSpPr/>
          <p:nvPr/>
        </p:nvSpPr>
        <p:spPr>
          <a:xfrm rot="10800000" flipV="1">
            <a:off x="3159125" y="2644140"/>
            <a:ext cx="172720" cy="476250"/>
          </a:xfrm>
          <a:prstGeom prst="curvedLeftArrow">
            <a:avLst>
              <a:gd name="adj1" fmla="val 52024"/>
              <a:gd name="adj2" fmla="val 98385"/>
              <a:gd name="adj3" fmla="val 25000"/>
            </a:avLst>
          </a:prstGeom>
          <a:solidFill>
            <a:schemeClr val="tx1"/>
          </a:solidFill>
          <a:ln>
            <a:solidFill>
              <a:srgbClr val="3232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399155" y="2931160"/>
            <a:ext cx="594995" cy="20193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meta</a:t>
            </a:r>
            <a:r>
              <a:rPr 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Straight Connector 23"/>
          <p:cNvCxnSpPr>
            <a:stCxn id="21" idx="0"/>
            <a:endCxn id="15" idx="2"/>
          </p:cNvCxnSpPr>
          <p:nvPr/>
        </p:nvCxnSpPr>
        <p:spPr>
          <a:xfrm flipH="1" flipV="1">
            <a:off x="3658870" y="2802255"/>
            <a:ext cx="38100" cy="1289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21480" y="2912110"/>
            <a:ext cx="742950" cy="22098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check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2" name="Straight Arrow Connector 31"/>
          <p:cNvCxnSpPr>
            <a:endCxn id="31" idx="1"/>
          </p:cNvCxnSpPr>
          <p:nvPr/>
        </p:nvCxnSpPr>
        <p:spPr>
          <a:xfrm>
            <a:off x="3685540" y="2877185"/>
            <a:ext cx="535940" cy="14541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L-Shape 32"/>
          <p:cNvSpPr/>
          <p:nvPr/>
        </p:nvSpPr>
        <p:spPr>
          <a:xfrm rot="18780000">
            <a:off x="4806315" y="2830830"/>
            <a:ext cx="170180" cy="125730"/>
          </a:xfrm>
          <a:prstGeom prst="corner">
            <a:avLst/>
          </a:prstGeom>
          <a:solidFill>
            <a:srgbClr val="39FF19"/>
          </a:solidFill>
          <a:ln>
            <a:solidFill>
              <a:srgbClr val="39FF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&quot;No&quot; Symbol 33"/>
          <p:cNvSpPr/>
          <p:nvPr/>
        </p:nvSpPr>
        <p:spPr>
          <a:xfrm>
            <a:off x="4766945" y="3011170"/>
            <a:ext cx="208280" cy="194310"/>
          </a:xfrm>
          <a:prstGeom prst="noSmoking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464810" y="1498600"/>
            <a:ext cx="888365" cy="41338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custom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allocator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Right Arrow 38"/>
          <p:cNvSpPr/>
          <p:nvPr/>
        </p:nvSpPr>
        <p:spPr>
          <a:xfrm rot="10800000">
            <a:off x="5070475" y="1498600"/>
            <a:ext cx="314325" cy="23241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 rot="8640000">
            <a:off x="5084445" y="1819910"/>
            <a:ext cx="314325" cy="23241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5384800" y="1897380"/>
            <a:ext cx="13176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alloc &amp;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return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Flowchart: Process 41"/>
          <p:cNvSpPr/>
          <p:nvPr/>
        </p:nvSpPr>
        <p:spPr>
          <a:xfrm>
            <a:off x="5338445" y="2532380"/>
            <a:ext cx="1054100" cy="551180"/>
          </a:xfrm>
          <a:prstGeom prst="flowChartProcess">
            <a:avLst/>
          </a:prstGeom>
          <a:solidFill>
            <a:schemeClr val="bg1"/>
          </a:solidFill>
          <a:ln w="31750" cmpd="sng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Compiler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Instrumentation</a:t>
            </a:r>
            <a:endParaRPr 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Right Arrow 43"/>
          <p:cNvSpPr/>
          <p:nvPr/>
        </p:nvSpPr>
        <p:spPr>
          <a:xfrm rot="10800000">
            <a:off x="5049520" y="2644140"/>
            <a:ext cx="234950" cy="23241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4229100" y="2599690"/>
            <a:ext cx="742950" cy="22098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ext. inst.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ight Arrow 48"/>
          <p:cNvSpPr/>
          <p:nvPr/>
        </p:nvSpPr>
        <p:spPr>
          <a:xfrm rot="16200000">
            <a:off x="4273550" y="2275840"/>
            <a:ext cx="279400" cy="23241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Text Box 50"/>
          <p:cNvSpPr txBox="1"/>
          <p:nvPr/>
        </p:nvSpPr>
        <p:spPr>
          <a:xfrm>
            <a:off x="4469765" y="2315210"/>
            <a:ext cx="694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update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2" name="Picture 51" descr="LLVM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8740" y="2199640"/>
            <a:ext cx="577850" cy="57785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219065" y="1539240"/>
            <a:ext cx="137160" cy="1333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219065" y="1839595"/>
            <a:ext cx="137160" cy="1333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644265" y="2312670"/>
            <a:ext cx="137160" cy="1333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344670" y="2331085"/>
            <a:ext cx="137160" cy="1333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2598</Words>
  <Application>WPS Presentation</Application>
  <PresentationFormat>宽屏</PresentationFormat>
  <Paragraphs>671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Courier New</vt:lpstr>
      <vt:lpstr>Microsoft YaHei</vt:lpstr>
      <vt:lpstr>文泉驿微米黑</vt:lpstr>
      <vt:lpstr>Arial Unicode MS</vt:lpstr>
      <vt:lpstr>Arial Black</vt:lpstr>
      <vt:lpstr>SimSun</vt:lpstr>
      <vt:lpstr>Liberation Mono</vt:lpstr>
      <vt:lpstr>LiterationMono Nerd Font</vt:lpstr>
      <vt:lpstr>Noto Emoji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john</cp:lastModifiedBy>
  <cp:revision>136</cp:revision>
  <dcterms:created xsi:type="dcterms:W3CDTF">2025-08-22T03:47:18Z</dcterms:created>
  <dcterms:modified xsi:type="dcterms:W3CDTF">2025-08-22T03:47:18Z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1033-12.1.0.17885</vt:lpwstr>
  </property>
  <property fmtid="{D5CDD505-2E9C-101B-9397-08002B2CF9AE}" pid="3" name="ICV">
    <vt:lpwstr>A1B81A57A296BCB4D7511C68DEFD4589_41</vt:lpwstr>
  </property>
</Properties>
</file>